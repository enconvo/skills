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58"/>
  </p:normalViewPr>
  <p:slideViewPr>
    <p:cSldViewPr snapToGrid="0" snapToObjects="1">
      <p:cViewPr varScale="1">
        <p:scale>
          <a:sx n="95" d="100"/>
          <a:sy n="95" d="100"/>
        </p:scale>
        <p:origin x="200" y="7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1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0" y="4581144"/>
            <a:ext cx="12280605" cy="2276856"/>
          </a:xfrm>
          <a:prstGeom prst="roundRect">
            <a:avLst>
              <a:gd name="adj" fmla="val 0"/>
            </a:avLst>
          </a:prstGeom>
          <a:solidFill>
            <a:srgbClr val="000000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14400" y="4389120"/>
            <a:ext cx="3200400" cy="2743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448056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Rockwell"/>
              </a:rPr>
              <a:t>The K-Beauty Revolution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9893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 dirty="0">
                <a:solidFill>
                  <a:srgbClr val="F0E6D6"/>
                </a:solidFill>
                <a:latin typeface="Georgia"/>
              </a:rPr>
              <a:t>How Korean skincare conquered the world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09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B8B0A8"/>
                </a:solidFill>
                <a:latin typeface="Georgia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2_rout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0" y="278360"/>
            <a:ext cx="12191695" cy="1371600"/>
          </a:xfrm>
          <a:prstGeom prst="roundRect">
            <a:avLst>
              <a:gd name="adj" fmla="val 0"/>
            </a:avLst>
          </a:prstGeom>
          <a:solidFill>
            <a:srgbClr val="000000">
              <a:alpha val="2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57146" y="171715"/>
            <a:ext cx="3657600" cy="2743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4114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Rockwell"/>
              </a:rPr>
              <a:t>THE 10-STEP ROUTINE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686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F0E6D6"/>
                </a:solidFill>
                <a:latin typeface="Georgia"/>
              </a:rPr>
              <a:t>Morning protection meets evening restoration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19" y="2249424"/>
            <a:ext cx="5364785" cy="4334256"/>
          </a:xfrm>
          <a:prstGeom prst="roundRect">
            <a:avLst>
              <a:gd name="adj" fmla="val 5000"/>
            </a:avLst>
          </a:prstGeom>
          <a:solidFill>
            <a:srgbClr val="000000">
              <a:alpha val="2972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737360"/>
            <a:ext cx="4114800" cy="2743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8288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C8102E"/>
                </a:solidFill>
                <a:latin typeface="Rockwell"/>
              </a:rPr>
              <a:t>MORNING — Protection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317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Georgia"/>
              </a:rPr>
              <a:t>1. Oil Cleanser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23317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0E6D6"/>
                </a:solidFill>
                <a:latin typeface="Georgia"/>
              </a:rPr>
              <a:t>Dissolve sunscreen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67919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Georgia"/>
              </a:rPr>
              <a:t>2. Water Cleanser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267919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0E6D6"/>
                </a:solidFill>
                <a:latin typeface="Georgia"/>
              </a:rPr>
              <a:t>Deep clean pores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02666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Georgia"/>
              </a:rPr>
              <a:t>3. Exfoliant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302666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0E6D6"/>
                </a:solidFill>
                <a:latin typeface="Georgia"/>
              </a:rPr>
              <a:t>Weekly cell turnover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37413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Georgia"/>
              </a:rPr>
              <a:t>4. Toner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3374136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0E6D6"/>
                </a:solidFill>
                <a:latin typeface="Georgia"/>
              </a:rPr>
              <a:t>Balance skin pH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72160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Georgia"/>
              </a:rPr>
              <a:t>5. Essence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60" y="372160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0E6D6"/>
                </a:solidFill>
                <a:latin typeface="Georgia"/>
              </a:rPr>
              <a:t>Core hydration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0690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Georgia"/>
              </a:rPr>
              <a:t>6. Serum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51760" y="40690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0E6D6"/>
                </a:solidFill>
                <a:latin typeface="Georgia"/>
              </a:rPr>
              <a:t>Targeted treatment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41655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Georgia"/>
              </a:rPr>
              <a:t>7. Moisturizer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51760" y="441655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0E6D6"/>
                </a:solidFill>
                <a:latin typeface="Georgia"/>
              </a:rPr>
              <a:t>Seal in layers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76402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Georgia"/>
              </a:rPr>
              <a:t>8. Sunscreen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51760" y="476402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0E6D6"/>
                </a:solidFill>
                <a:latin typeface="Georgia"/>
              </a:rPr>
              <a:t>SPF50+ daily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599" y="2221992"/>
            <a:ext cx="5974081" cy="4361688"/>
          </a:xfrm>
          <a:prstGeom prst="roundRect">
            <a:avLst>
              <a:gd name="adj" fmla="val 5000"/>
            </a:avLst>
          </a:prstGeom>
          <a:solidFill>
            <a:srgbClr val="000000">
              <a:alpha val="3194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217920" y="1737360"/>
            <a:ext cx="4114800" cy="2743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217920" y="18288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C8102E"/>
                </a:solidFill>
                <a:latin typeface="Rockwell"/>
              </a:rPr>
              <a:t>NIGHT — Repair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23317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Georgia"/>
              </a:rPr>
              <a:t>1. Oil Cleanser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95360" y="23317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0E6D6"/>
                </a:solidFill>
                <a:latin typeface="Georgia"/>
              </a:rPr>
              <a:t>Double cleanse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267919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Georgia"/>
              </a:rPr>
              <a:t>2. Water Cleanser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95360" y="267919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0E6D6"/>
                </a:solidFill>
                <a:latin typeface="Georgia"/>
              </a:rPr>
              <a:t>Remove impurities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0" y="302666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Georgia"/>
              </a:rPr>
              <a:t>3. Exfoliant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95360" y="3026664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0E6D6"/>
                </a:solidFill>
                <a:latin typeface="Georgia"/>
              </a:rPr>
              <a:t>Chemical turnover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0" y="337413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Georgia"/>
              </a:rPr>
              <a:t>4. Toner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95360" y="3374136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0E6D6"/>
                </a:solidFill>
                <a:latin typeface="Georgia"/>
              </a:rPr>
              <a:t>Rebalance pH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0" y="372160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Georgia"/>
              </a:rPr>
              <a:t>5. Essence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95360" y="372160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0E6D6"/>
                </a:solidFill>
                <a:latin typeface="Georgia"/>
              </a:rPr>
              <a:t>Fermented nutrients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7920" y="40690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Georgia"/>
              </a:rPr>
              <a:t>6. Serum/Ampoule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95360" y="40690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0E6D6"/>
                </a:solidFill>
                <a:latin typeface="Georgia"/>
              </a:rPr>
              <a:t>Concentrated repair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7920" y="441655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Georgia"/>
              </a:rPr>
              <a:t>7. Sheet Mask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95360" y="441655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0E6D6"/>
                </a:solidFill>
                <a:latin typeface="Georgia"/>
              </a:rPr>
              <a:t>15-min infusion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7920" y="476402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Georgia"/>
              </a:rPr>
              <a:t>8. Night Cream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95360" y="4764024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0E6D6"/>
                </a:solidFill>
                <a:latin typeface="Georgia"/>
              </a:rPr>
              <a:t>Overnight recovery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94215" y="27432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C8102E"/>
                </a:solidFill>
                <a:latin typeface="Rockwell"/>
              </a:rPr>
              <a:t>92% Korea | 35% Global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509760" y="697071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 dirty="0">
                <a:solidFill>
                  <a:srgbClr val="FFFFFF"/>
                </a:solidFill>
                <a:latin typeface="Georgia"/>
              </a:rPr>
              <a:t>follow multi-step routines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972800" y="6309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B8B0A8"/>
                </a:solidFill>
                <a:latin typeface="Georgia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3_ingredi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0" y="0"/>
            <a:ext cx="6096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1128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48640" y="457200"/>
            <a:ext cx="2743200" cy="2743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413599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 dirty="0">
                <a:solidFill>
                  <a:srgbClr val="FFFFFF"/>
                </a:solidFill>
                <a:latin typeface="Rockwell"/>
              </a:rPr>
              <a:t>Hero Ingredients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6519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 dirty="0">
                <a:solidFill>
                  <a:srgbClr val="F0E6D6"/>
                </a:solidFill>
                <a:latin typeface="Georgia"/>
              </a:rPr>
              <a:t>Nature meets science in every formula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37360"/>
            <a:ext cx="2286000" cy="2743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82880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8102E"/>
                </a:solidFill>
                <a:latin typeface="Rockwell"/>
              </a:rPr>
              <a:t>Snail Mucin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24028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Georgia"/>
              </a:rPr>
              <a:t>Glycoproteins for deep repair and hydration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926080"/>
            <a:ext cx="2286000" cy="2743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301752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 dirty="0">
                <a:solidFill>
                  <a:srgbClr val="C8102E"/>
                </a:solidFill>
                <a:latin typeface="Rockwell"/>
              </a:rPr>
              <a:t>Centella Asiatica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42900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Georgia"/>
              </a:rPr>
              <a:t>Anti-inflammatory healing from tiger grass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114800"/>
            <a:ext cx="2286000" cy="2743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420624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8102E"/>
                </a:solidFill>
                <a:latin typeface="Rockwell"/>
              </a:rPr>
              <a:t>Rice Extract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61772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Georgia"/>
              </a:rPr>
              <a:t>Brightening enzyme complex for radiance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303520"/>
            <a:ext cx="2286000" cy="2743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539496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8102E"/>
                </a:solidFill>
                <a:latin typeface="Rockwell"/>
              </a:rPr>
              <a:t>Propolis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80644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Georgia"/>
              </a:rPr>
              <a:t>Bee-derived antioxidant barrier shield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309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B8B0A8"/>
                </a:solidFill>
                <a:latin typeface="Georgia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4_imp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0" y="0"/>
            <a:ext cx="12191695" cy="1371600"/>
          </a:xfrm>
          <a:prstGeom prst="roundRect">
            <a:avLst>
              <a:gd name="adj" fmla="val 0"/>
            </a:avLst>
          </a:prstGeom>
          <a:solidFill>
            <a:srgbClr val="000000">
              <a:alpha val="2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31520" y="274320"/>
            <a:ext cx="2743200" cy="2743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Rockwell"/>
              </a:rPr>
              <a:t>Global Impact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686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F0E6D6"/>
                </a:solidFill>
                <a:latin typeface="Georgia"/>
              </a:rPr>
              <a:t>K-Beauty's worldwide footprint in numbers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313432"/>
            <a:ext cx="3474720" cy="1344168"/>
          </a:xfrm>
          <a:prstGeom prst="roundRect">
            <a:avLst>
              <a:gd name="adj" fmla="val 5000"/>
            </a:avLst>
          </a:prstGeom>
          <a:solidFill>
            <a:srgbClr val="000000">
              <a:alpha val="2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828800"/>
            <a:ext cx="1828800" cy="2743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9202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8102E"/>
                </a:solidFill>
                <a:latin typeface="Rockwell"/>
              </a:rPr>
              <a:t>MARKET SIZE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4028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Rockwell"/>
              </a:rPr>
              <a:t>$13.2B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0175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6"/>
                </a:solidFill>
                <a:latin typeface="Georgia"/>
              </a:rPr>
              <a:t>Global value at 9.3% CAGR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2313432"/>
            <a:ext cx="3474720" cy="1344168"/>
          </a:xfrm>
          <a:prstGeom prst="roundRect">
            <a:avLst>
              <a:gd name="adj" fmla="val 5000"/>
            </a:avLst>
          </a:prstGeom>
          <a:solidFill>
            <a:srgbClr val="000000">
              <a:alpha val="2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480560" y="1828800"/>
            <a:ext cx="1828800" cy="2743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80560" y="19202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8102E"/>
                </a:solidFill>
                <a:latin typeface="Rockwell"/>
              </a:rPr>
              <a:t>TIKTOK VIEWS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24028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Rockwell"/>
              </a:rPr>
              <a:t>48B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30175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6"/>
                </a:solidFill>
                <a:latin typeface="Georgia"/>
              </a:rPr>
              <a:t>#KBeauty Gen Z adoption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2286000"/>
            <a:ext cx="3474720" cy="1371600"/>
          </a:xfrm>
          <a:prstGeom prst="roundRect">
            <a:avLst>
              <a:gd name="adj" fmla="val 5000"/>
            </a:avLst>
          </a:prstGeom>
          <a:solidFill>
            <a:srgbClr val="000000">
              <a:alpha val="2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321040" y="1828800"/>
            <a:ext cx="1828800" cy="2743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21040" y="19202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8102E"/>
                </a:solidFill>
                <a:latin typeface="Rockwell"/>
              </a:rPr>
              <a:t>ANNUAL SPEND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224028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Rockwell"/>
              </a:rPr>
              <a:t>$230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30175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6"/>
                </a:solidFill>
                <a:latin typeface="Georgia"/>
              </a:rPr>
              <a:t>Korean woman avg yearly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645152"/>
            <a:ext cx="3474720" cy="1389888"/>
          </a:xfrm>
          <a:prstGeom prst="roundRect">
            <a:avLst>
              <a:gd name="adj" fmla="val 5000"/>
            </a:avLst>
          </a:prstGeom>
          <a:solidFill>
            <a:srgbClr val="000000">
              <a:alpha val="2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40080" y="4206240"/>
            <a:ext cx="1828800" cy="2743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" y="42976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8102E"/>
                </a:solidFill>
                <a:latin typeface="Rockwell"/>
              </a:rPr>
              <a:t>IMPORT GROWTH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61772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Rockwell"/>
              </a:rPr>
              <a:t>400%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3949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6"/>
                </a:solidFill>
                <a:latin typeface="Georgia"/>
              </a:rPr>
              <a:t>US skincare imports surged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97680" y="4645152"/>
            <a:ext cx="3474720" cy="1389888"/>
          </a:xfrm>
          <a:prstGeom prst="roundRect">
            <a:avLst>
              <a:gd name="adj" fmla="val 5000"/>
            </a:avLst>
          </a:prstGeom>
          <a:solidFill>
            <a:srgbClr val="000000">
              <a:alpha val="2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480560" y="4206240"/>
            <a:ext cx="1828800" cy="2743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480560" y="42976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8102E"/>
                </a:solidFill>
                <a:latin typeface="Rockwell"/>
              </a:rPr>
              <a:t>TOP DESTINATIONS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0560" y="461772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Rockwel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53949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6"/>
                </a:solidFill>
                <a:latin typeface="Georgia"/>
              </a:rPr>
              <a:t>US, China, Japan, SE Asia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38160" y="4617720"/>
            <a:ext cx="3474720" cy="1417320"/>
          </a:xfrm>
          <a:prstGeom prst="roundRect">
            <a:avLst>
              <a:gd name="adj" fmla="val 5000"/>
            </a:avLst>
          </a:prstGeom>
          <a:solidFill>
            <a:srgbClr val="000000">
              <a:alpha val="2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321040" y="4206240"/>
            <a:ext cx="1828800" cy="2743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321040" y="42976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8102E"/>
                </a:solidFill>
                <a:latin typeface="Rockwell"/>
              </a:rPr>
              <a:t>BRANDS GLOBAL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0" y="461772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Rockwell"/>
              </a:rPr>
              <a:t>50+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53949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6"/>
                </a:solidFill>
                <a:latin typeface="Georgia"/>
              </a:rPr>
              <a:t>Korean brands in 100+ countries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309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B8B0A8"/>
                </a:solidFill>
                <a:latin typeface="Georgia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5_clos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6334" y="2130552"/>
            <a:ext cx="4976038" cy="1252728"/>
          </a:xfrm>
          <a:prstGeom prst="roundRect">
            <a:avLst>
              <a:gd name="adj" fmla="val 5000"/>
            </a:avLst>
          </a:prstGeom>
          <a:solidFill>
            <a:srgbClr val="000000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200400" y="2011680"/>
            <a:ext cx="3200400" cy="2743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0" y="1965960"/>
            <a:ext cx="5760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 dirty="0">
                <a:solidFill>
                  <a:srgbClr val="FFFFFF"/>
                </a:solidFill>
                <a:latin typeface="Rockwell"/>
              </a:rPr>
              <a:t>Your Skin,
Your Story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3478977"/>
            <a:ext cx="2103120" cy="2743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0" y="3566160"/>
            <a:ext cx="576072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 dirty="0">
                <a:solidFill>
                  <a:schemeClr val="bg1"/>
                </a:solidFill>
                <a:latin typeface="Georgia"/>
              </a:rPr>
              <a:t>The future of beauty is Korean —
science-driven, nature-inspired, and endlessly innovative.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448056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 dirty="0">
                <a:solidFill>
                  <a:srgbClr val="C8102E"/>
                </a:solidFill>
                <a:latin typeface="Rockwell"/>
              </a:rPr>
              <a:t>#</a:t>
            </a:r>
            <a:r>
              <a:rPr sz="1600" b="1" i="0" dirty="0" err="1">
                <a:solidFill>
                  <a:srgbClr val="C8102E"/>
                </a:solidFill>
                <a:latin typeface="Rockwell"/>
              </a:rPr>
              <a:t>KBeautyRevolution</a:t>
            </a:r>
            <a:endParaRPr sz="1600" b="1" i="0" dirty="0">
              <a:solidFill>
                <a:srgbClr val="C8102E"/>
              </a:solidFill>
              <a:latin typeface="Rockwel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972800" y="6309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B8B0A8"/>
                </a:solidFill>
                <a:latin typeface="Georgia"/>
              </a:rPr>
              <a:t>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252</Words>
  <Application>Microsoft Macintosh PowerPoint</Application>
  <PresentationFormat>Widescreen</PresentationFormat>
  <Paragraphs>78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Georgia</vt:lpstr>
      <vt:lpstr>Rockwell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wz yao</cp:lastModifiedBy>
  <cp:revision>2</cp:revision>
  <dcterms:created xsi:type="dcterms:W3CDTF">2013-01-27T09:14:16Z</dcterms:created>
  <dcterms:modified xsi:type="dcterms:W3CDTF">2026-03-13T11:54:17Z</dcterms:modified>
  <cp:category/>
</cp:coreProperties>
</file>