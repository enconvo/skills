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0000" y="1000000"/>
            <a:ext cx="2500000" cy="5715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8890000" cy="9271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 spc="300">
                <a:solidFill>
                  <a:srgbClr val="FFFFFF"/>
                </a:solidFill>
                <a:latin typeface="Georgia"/>
              </a:rPr>
              <a:t>THE COFFEE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2127900"/>
            <a:ext cx="8890000" cy="9271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 spc="300">
                <a:solidFill>
                  <a:srgbClr val="FFFFFF"/>
                </a:solidFill>
                <a:latin typeface="Georgia"/>
              </a:rPr>
              <a:t>RENAISSANCE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105800"/>
            <a:ext cx="5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1">
                <a:solidFill>
                  <a:srgbClr val="F5E6D0"/>
                </a:solidFill>
                <a:latin typeface="Georgia"/>
              </a:rPr>
              <a:t>Where fashion meets the perfect cup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3556600"/>
            <a:ext cx="2800000" cy="1100000"/>
          </a:xfrm>
          <a:prstGeom prst="roundRect">
            <a:avLst>
              <a:gd name="adj" fmla="val 5000"/>
            </a:avLst>
          </a:prstGeom>
          <a:solidFill>
            <a:srgbClr val="1A120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000" y="3656600"/>
            <a:ext cx="2400000" cy="863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D4A853"/>
                </a:solidFill>
                <a:latin typeface="Georgia"/>
              </a:rPr>
              <a:t>$495B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" y="4571000"/>
            <a:ext cx="27432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B0A090"/>
                </a:solidFill>
                <a:latin typeface="Calibri"/>
              </a:rPr>
              <a:t>Global Coffee Market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0000" y="500000"/>
            <a:ext cx="2500000" cy="57150"/>
          </a:xfrm>
          <a:prstGeom prst="rect">
            <a:avLst/>
          </a:prstGeom>
          <a:solidFill>
            <a:srgbClr val="C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650000"/>
            <a:ext cx="8890000" cy="149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 spc="250">
                <a:solidFill>
                  <a:srgbClr val="FFFFFF"/>
                </a:solidFill>
                <a:latin typeface="Georgia"/>
              </a:rPr>
              <a:t>ORIGINS &amp; TERROIR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2780800"/>
            <a:ext cx="553466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F5E6D0"/>
                </a:solidFill>
                <a:latin typeface="Georgia"/>
              </a:rPr>
              <a:t>From highland farms to your morning ritual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3231600"/>
            <a:ext cx="5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180000"/>
            <a:ext cx="5200000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5E6D0"/>
                </a:solidFill>
                <a:latin typeface="Georgia"/>
              </a:rPr>
              <a:t>The birthplace. Wild arabica forests, floral &amp; fruity notes, 1,800m+ elevation.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682400"/>
            <a:ext cx="5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Colombia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4133200"/>
            <a:ext cx="5200000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5E6D0"/>
                </a:solidFill>
                <a:latin typeface="Georgia"/>
              </a:rPr>
              <a:t>Volcanic soil perfection. Balanced sweetness, caramel undertones, shade-grown.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4734000"/>
            <a:ext cx="5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Japan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5184800"/>
            <a:ext cx="5200000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5E6D0"/>
                </a:solidFill>
                <a:latin typeface="Georgia"/>
              </a:rPr>
              <a:t>Precision culture. Pour-over mastery, kissaten tradition, third-wave innovation.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5785600"/>
            <a:ext cx="5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Italy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6236400"/>
            <a:ext cx="5200000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F5E6D0"/>
                </a:solidFill>
                <a:latin typeface="Georgia"/>
              </a:rPr>
              <a:t>The espresso architects. Pressure, temperature, crema — elevated to art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0000" y="400000"/>
            <a:ext cx="2500000" cy="5715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550000"/>
            <a:ext cx="8890000" cy="7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 spc="200">
                <a:solidFill>
                  <a:srgbClr val="FFFFFF"/>
                </a:solidFill>
                <a:latin typeface="Georgia"/>
              </a:rPr>
              <a:t>THE PERFECT BREW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390000"/>
            <a:ext cx="5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1">
                <a:solidFill>
                  <a:srgbClr val="F5E6D0"/>
                </a:solidFill>
                <a:latin typeface="Georgia"/>
              </a:rPr>
              <a:t>Precision, patience, passion — every variable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000" y="2110000"/>
            <a:ext cx="5500000" cy="850000"/>
          </a:xfrm>
          <a:prstGeom prst="roundRect">
            <a:avLst>
              <a:gd name="adj" fmla="val 5000"/>
            </a:avLst>
          </a:prstGeom>
          <a:solidFill>
            <a:srgbClr val="1A120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" y="2190000"/>
            <a:ext cx="2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Espresso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190000"/>
            <a:ext cx="28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 i="1">
                <a:solidFill>
                  <a:srgbClr val="F5E6D0"/>
                </a:solidFill>
                <a:latin typeface="Georgia"/>
              </a:rPr>
              <a:t>The concentrated soul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" y="2600000"/>
            <a:ext cx="5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A090"/>
                </a:solidFill>
                <a:latin typeface="Calibri"/>
              </a:rPr>
              <a:t>9 bars  •  25 sec  •  93°C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3040000"/>
            <a:ext cx="5500000" cy="850000"/>
          </a:xfrm>
          <a:prstGeom prst="roundRect">
            <a:avLst>
              <a:gd name="adj" fmla="val 5000"/>
            </a:avLst>
          </a:prstGeom>
          <a:solidFill>
            <a:srgbClr val="1A120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3120000"/>
            <a:ext cx="2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Pour-Over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20000"/>
            <a:ext cx="28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 i="1">
                <a:solidFill>
                  <a:srgbClr val="F5E6D0"/>
                </a:solidFill>
                <a:latin typeface="Georgia"/>
              </a:rPr>
              <a:t>Clarity revealed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" y="3530000"/>
            <a:ext cx="5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A090"/>
                </a:solidFill>
                <a:latin typeface="Calibri"/>
              </a:rPr>
              <a:t>Spiral pour  •  3 min  •  96°C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000" y="3970000"/>
            <a:ext cx="5500000" cy="850000"/>
          </a:xfrm>
          <a:prstGeom prst="roundRect">
            <a:avLst>
              <a:gd name="adj" fmla="val 5000"/>
            </a:avLst>
          </a:prstGeom>
          <a:solidFill>
            <a:srgbClr val="1A120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" y="4050000"/>
            <a:ext cx="2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Cold Brew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050000"/>
            <a:ext cx="28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 i="1">
                <a:solidFill>
                  <a:srgbClr val="F5E6D0"/>
                </a:solidFill>
                <a:latin typeface="Georgia"/>
              </a:rPr>
              <a:t>Smooth &amp; sweet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000" y="4460000"/>
            <a:ext cx="5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A090"/>
                </a:solidFill>
                <a:latin typeface="Calibri"/>
              </a:rPr>
              <a:t>12-hour steep  •  Coarse grind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000" y="4900000"/>
            <a:ext cx="5500000" cy="850000"/>
          </a:xfrm>
          <a:prstGeom prst="roundRect">
            <a:avLst>
              <a:gd name="adj" fmla="val 5000"/>
            </a:avLst>
          </a:prstGeom>
          <a:solidFill>
            <a:srgbClr val="1A120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000" y="4980000"/>
            <a:ext cx="22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D4A853"/>
                </a:solidFill>
                <a:latin typeface="Georgia"/>
              </a:rPr>
              <a:t>French 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980000"/>
            <a:ext cx="28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0" i="1">
                <a:solidFill>
                  <a:srgbClr val="F5E6D0"/>
                </a:solidFill>
                <a:latin typeface="Georgia"/>
              </a:rPr>
              <a:t>Bold &amp; 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0" y="5390000"/>
            <a:ext cx="5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A090"/>
                </a:solidFill>
                <a:latin typeface="Calibri"/>
              </a:rPr>
              <a:t>Full immersion  •  4 min  •  95°C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0000" y="400000"/>
            <a:ext cx="2500000" cy="57150"/>
          </a:xfrm>
          <a:prstGeom prst="rect">
            <a:avLst/>
          </a:prstGeom>
          <a:solidFill>
            <a:srgbClr val="C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550000"/>
            <a:ext cx="8890000" cy="7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 spc="250">
                <a:solidFill>
                  <a:srgbClr val="FFFFFF"/>
                </a:solidFill>
                <a:latin typeface="Georgia"/>
              </a:rPr>
              <a:t>COFFEE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390000"/>
            <a:ext cx="5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1">
                <a:solidFill>
                  <a:srgbClr val="F5E6D0"/>
                </a:solidFill>
                <a:latin typeface="Georgia"/>
              </a:rPr>
              <a:t>More than a drink — a global lifestyle movement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110000"/>
            <a:ext cx="2800000" cy="1800000"/>
          </a:xfrm>
          <a:prstGeom prst="roundRect">
            <a:avLst>
              <a:gd name="adj" fmla="val 5000"/>
            </a:avLst>
          </a:prstGeom>
          <a:solidFill>
            <a:srgbClr val="1A120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3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D4A853"/>
                </a:solidFill>
                <a:latin typeface="Georgia"/>
              </a:rPr>
              <a:t>2.25B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0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F5E6D0"/>
                </a:solidFill>
                <a:latin typeface="Georgia"/>
              </a:rPr>
              <a:t>cups consumed daily worldwide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0000" y="2110000"/>
            <a:ext cx="2800000" cy="1800000"/>
          </a:xfrm>
          <a:prstGeom prst="roundRect">
            <a:avLst>
              <a:gd name="adj" fmla="val 5000"/>
            </a:avLst>
          </a:prstGeom>
          <a:solidFill>
            <a:srgbClr val="1A120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0" y="23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D4A853"/>
                </a:solidFill>
                <a:latin typeface="Georgia"/>
              </a:rPr>
              <a:t>3rd Wave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0" y="30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F5E6D0"/>
                </a:solidFill>
                <a:latin typeface="Georgia"/>
              </a:rPr>
              <a:t>craft coffee movement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000" y="4110000"/>
            <a:ext cx="2800000" cy="1800000"/>
          </a:xfrm>
          <a:prstGeom prst="roundRect">
            <a:avLst>
              <a:gd name="adj" fmla="val 5000"/>
            </a:avLst>
          </a:prstGeom>
          <a:solidFill>
            <a:srgbClr val="1A120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43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D4A853"/>
                </a:solidFill>
                <a:latin typeface="Georgia"/>
              </a:rPr>
              <a:t>$6.70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0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F5E6D0"/>
                </a:solidFill>
                <a:latin typeface="Georgia"/>
              </a:rPr>
              <a:t>average specialty latte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0000" y="4110000"/>
            <a:ext cx="2800000" cy="1800000"/>
          </a:xfrm>
          <a:prstGeom prst="roundRect">
            <a:avLst>
              <a:gd name="adj" fmla="val 5000"/>
            </a:avLst>
          </a:prstGeom>
          <a:solidFill>
            <a:srgbClr val="1A120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0000" y="43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D4A853"/>
                </a:solidFill>
                <a:latin typeface="Georgia"/>
              </a:rPr>
              <a:t>12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0000" y="5060000"/>
            <a:ext cx="24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F5E6D0"/>
                </a:solidFill>
                <a:latin typeface="Georgia"/>
              </a:rPr>
              <a:t>average café dwell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5000" y="4953000"/>
            <a:ext cx="6350000" cy="12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Every Cup
Tells a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6248400"/>
            <a:ext cx="6350000" cy="355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D4A853"/>
                </a:solidFill>
                <a:latin typeface="Georgia"/>
              </a:rPr>
              <a:t>Ritual  •  Craft  • 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6578600"/>
            <a:ext cx="10922000" cy="254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0" i="0">
                <a:solidFill>
                  <a:srgbClr val="AA9988"/>
                </a:solidFill>
                <a:latin typeface="Georgia"/>
              </a:rPr>
              <a:t>// the coffee renaissance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