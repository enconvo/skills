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00000"/>
            <a:ext cx="103632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The K-Beauty Revolution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0000"/>
            <a:ext cx="24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666666"/>
                </a:solidFill>
                <a:latin typeface="Calibri"/>
              </a:rPr>
              <a:t>How Korea Redefined Skincare for the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400000"/>
            <a:ext cx="103632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50000"/>
            <a:ext cx="103632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Market Analysis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286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1A1A"/>
                </a:solidFill>
                <a:latin typeface="Georgia"/>
              </a:rPr>
              <a:t>The 10-Step Routine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80000"/>
            <a:ext cx="20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950000"/>
            <a:ext cx="11050000" cy="450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1000000"/>
            <a:ext cx="10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  <a:r>
              <a:rPr sz="1600" b="1">
                <a:solidFill>
                  <a:srgbClr val="003DA5"/>
                </a:solidFill>
                <a:latin typeface="Calibri"/>
              </a:rPr>
              <a:t>92% </a:t>
            </a:r>
            <a:r>
              <a:rPr sz="1400">
                <a:solidFill>
                  <a:srgbClr val="1A1A1A"/>
                </a:solidFill>
                <a:latin typeface="Calibri"/>
              </a:rPr>
              <a:t>of Korean women follow a multi-step routine vs </a:t>
            </a:r>
            <a:r>
              <a:rPr sz="1600" b="1">
                <a:solidFill>
                  <a:srgbClr val="003DA5"/>
                </a:solidFill>
                <a:latin typeface="Calibri"/>
              </a:rPr>
              <a:t>35% </a:t>
            </a:r>
            <a:r>
              <a:rPr sz="1400">
                <a:solidFill>
                  <a:srgbClr val="1A1A1A"/>
                </a:solidFill>
                <a:latin typeface="Calibri"/>
              </a:rPr>
              <a:t>in the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600000"/>
            <a:ext cx="5300000" cy="400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00" y="1650000"/>
            <a:ext cx="49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MORNING ROUTINE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20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1500" y="21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1500" y="21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Oil Cleanser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4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1500" y="24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1500" y="24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Water Cleanser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27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500" y="28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1500" y="28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Toner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31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500" y="31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1500" y="31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Essence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34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1500" y="3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1500" y="35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Serum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38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500" y="38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1500" y="38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Eye Cream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1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500" y="42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1500" y="42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Moisturizer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45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1500" y="45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003DA5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1500" y="45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SPF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1500" y="1600000"/>
            <a:ext cx="5300000" cy="40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1500" y="1650000"/>
            <a:ext cx="49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NIGHT ROUTINE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1500" y="20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1500" y="21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1500" y="21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Double Cleanse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1500" y="24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1500" y="24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1500" y="24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Exfoliant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21500" y="27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1500" y="28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21500" y="28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Toner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21500" y="31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1500" y="31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1500" y="31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Essence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1500" y="34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1500" y="35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21500" y="35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Ampoule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1500" y="38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71500" y="38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21500" y="38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Sheet Mask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21500" y="4150000"/>
            <a:ext cx="5300000" cy="3500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71500" y="420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21500" y="420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Eye Cream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1500" y="4500000"/>
            <a:ext cx="5300000" cy="35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71500" y="4550000"/>
            <a:ext cx="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21500" y="4550000"/>
            <a:ext cx="45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Night Cream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286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1A1A"/>
                </a:solidFill>
                <a:latin typeface="Georgia"/>
              </a:rPr>
              <a:t>Hero Ingredients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80000"/>
            <a:ext cx="20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100000"/>
          <a:ext cx="1105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3500000"/>
                <a:gridCol w="6950000"/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03DA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Ingredient</a:t>
                      </a:r>
                    </a:p>
                  </a:txBody>
                  <a:tcPr>
                    <a:solidFill>
                      <a:srgbClr val="003DA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Benefit</a:t>
                      </a:r>
                    </a:p>
                  </a:txBody>
                  <a:tcPr>
                    <a:solidFill>
                      <a:srgbClr val="003DA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DA5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Snail Mucin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Deep hydration + cellular repair — the signature K-Beauty ingredient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DA5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Niacinamide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Brightening + pore refinement — a versatile workhorse in every routine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DA5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Centella Asiatica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Calming + anti-inflammatory — ideal for sensitive and acne-prone skin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DA5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Rice Extract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Even skin tone + natural radiance — used in Korean beauty for centuries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3DA5"/>
                          </a:solidFill>
                          <a:latin typeface="Calibri"/>
                        </a:rPr>
                        <a:t>05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Propolis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Antibacterial + luminous glow — bee-derived powerhouse ingredient</a:t>
                      </a:r>
                    </a:p>
                  </a:txBody>
                  <a:tcPr>
                    <a:solidFill>
                      <a:srgbClr val="F5F5F5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1500" y="5100000"/>
            <a:ext cx="11050000" cy="700000"/>
          </a:xfrm>
          <a:prstGeom prst="rect">
            <a:avLst/>
          </a:prstGeom>
          <a:solidFill>
            <a:srgbClr val="F0F4FA"/>
          </a:solidFill>
          <a:ln w="6350">
            <a:solidFill>
              <a:srgbClr val="003D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000" y="5200000"/>
            <a:ext cx="10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  <a:r>
              <a:rPr sz="1400" b="1">
                <a:solidFill>
                  <a:srgbClr val="999999"/>
                </a:solidFill>
                <a:latin typeface="Calibri"/>
              </a:rPr>
              <a:t>MARKET SIZE  |  </a:t>
            </a:r>
            <a:r>
              <a:rPr sz="2000" b="1">
                <a:solidFill>
                  <a:srgbClr val="003DA5"/>
                </a:solidFill>
                <a:latin typeface="Georgia"/>
              </a:rPr>
              <a:t>$13.2B </a:t>
            </a:r>
            <a:r>
              <a:rPr sz="1400">
                <a:solidFill>
                  <a:srgbClr val="1A1A1A"/>
                </a:solidFill>
                <a:latin typeface="Calibri"/>
              </a:rPr>
              <a:t>in 2025  →  projected </a:t>
            </a:r>
            <a:r>
              <a:rPr sz="2000" b="1">
                <a:solidFill>
                  <a:srgbClr val="003DA5"/>
                </a:solidFill>
                <a:latin typeface="Georgia"/>
              </a:rPr>
              <a:t>$21.8B </a:t>
            </a:r>
            <a:r>
              <a:rPr sz="1400">
                <a:solidFill>
                  <a:srgbClr val="1A1A1A"/>
                </a:solidFill>
                <a:latin typeface="Calibri"/>
              </a:rPr>
              <a:t>by 2030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20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Source: Statista, Grand View Research,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228600"/>
            <a:ext cx="11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1A1A1A"/>
                </a:solidFill>
                <a:latin typeface="Georgia"/>
              </a:rPr>
              <a:t>Global Impact 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780000"/>
            <a:ext cx="24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050000"/>
            <a:ext cx="3467100" cy="25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050000"/>
            <a:ext cx="34671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1500" y="1250000"/>
            <a:ext cx="30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003DA5"/>
                </a:solidFill>
                <a:latin typeface="Georgia"/>
              </a:rPr>
              <a:t>$13.2B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00" y="1850000"/>
            <a:ext cx="30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00" y="2250000"/>
            <a:ext cx="30671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South Korea's beauty market
with 2,800+ active brands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050000"/>
            <a:ext cx="3467100" cy="25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7200" y="1050000"/>
            <a:ext cx="34671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7200" y="1250000"/>
            <a:ext cx="30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003DA5"/>
                </a:solidFill>
                <a:latin typeface="Georgia"/>
              </a:rPr>
              <a:t>400%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7200" y="1850000"/>
            <a:ext cx="30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US Import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7200" y="2250000"/>
            <a:ext cx="30671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Increase in K-Beauty imports
since 2015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1050000"/>
            <a:ext cx="3467100" cy="25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2900" y="1050000"/>
            <a:ext cx="34671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2900" y="1250000"/>
            <a:ext cx="30671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003DA5"/>
                </a:solidFill>
                <a:latin typeface="Georgia"/>
              </a:rPr>
              <a:t>48B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00" y="1850000"/>
            <a:ext cx="30671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TikTok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900" y="2250000"/>
            <a:ext cx="30671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#KBeauty hashtag reach
across global audiences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3800000"/>
            <a:ext cx="5300000" cy="25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800000"/>
            <a:ext cx="53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500" y="4000000"/>
            <a:ext cx="48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003DA5"/>
                </a:solidFill>
                <a:latin typeface="Georgia"/>
              </a:rPr>
              <a:t>$230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500" y="4600000"/>
            <a:ext cx="4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Annual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500" y="5000000"/>
            <a:ext cx="48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Per capita skincare spending
in Korea vs $110 in 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1500" y="3800000"/>
            <a:ext cx="5300000" cy="25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1500" y="3800000"/>
            <a:ext cx="53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71500" y="4000000"/>
            <a:ext cx="48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003DA5"/>
                </a:solidFill>
                <a:latin typeface="Georg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1500" y="4600000"/>
            <a:ext cx="48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Top Export Markets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1500" y="5000000"/>
            <a:ext cx="48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66666"/>
                </a:solidFill>
                <a:latin typeface="Calibri"/>
              </a:rPr>
              <a:t>China, United States, Japan
and Southeast Asia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" y="6450000"/>
            <a:ext cx="1105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Source: Statista, Korea Customs Service,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00000"/>
            <a:ext cx="103632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A1A1A"/>
                </a:solidFill>
                <a:latin typeface="Georgia"/>
              </a:rPr>
              <a:t>Your Skin, Your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100000"/>
            <a:ext cx="2400000" cy="36576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300000"/>
            <a:ext cx="103632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0">
                <a:solidFill>
                  <a:srgbClr val="666666"/>
                </a:solidFill>
                <a:latin typeface="Calibri"/>
              </a:rPr>
              <a:t>The future of beauty is personal, science-driven, and inclusive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400000"/>
            <a:ext cx="103632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450000"/>
            <a:ext cx="103632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K-Beauty Market Analysis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