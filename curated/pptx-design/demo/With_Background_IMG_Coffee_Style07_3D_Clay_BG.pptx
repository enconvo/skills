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448"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title_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14400" y="3800000"/>
            <a:ext cx="10363200" cy="900000"/>
          </a:xfrm>
          <a:prstGeom prst="rect">
            <a:avLst/>
          </a:prstGeom>
          <a:noFill/>
        </p:spPr>
        <p:txBody>
          <a:bodyPr wrap="square">
            <a:spAutoFit/>
          </a:bodyPr>
          <a:lstStyle/>
          <a:p>
            <a:pPr algn="ctr"/>
            <a:r>
              <a:rPr sz="4800" b="1" spc="500">
                <a:solidFill>
                  <a:srgbClr val="FFFFFF"/>
                </a:solidFill>
                <a:latin typeface="Chalkboard SE"/>
              </a:rPr>
              <a:t>THE WORLD OF COFFEE</a:t>
            </a:r>
          </a:p>
        </p:txBody>
      </p:sp>
      <p:sp>
        <p:nvSpPr>
          <p:cNvPr id="4" name="Rectangle 3"/>
          <p:cNvSpPr/>
          <p:nvPr/>
        </p:nvSpPr>
        <p:spPr>
          <a:xfrm>
            <a:off x="4896000" y="4750000"/>
            <a:ext cx="2400000" cy="36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900000"/>
            <a:ext cx="10363200" cy="500000"/>
          </a:xfrm>
          <a:prstGeom prst="rect">
            <a:avLst/>
          </a:prstGeom>
          <a:noFill/>
        </p:spPr>
        <p:txBody>
          <a:bodyPr wrap="square">
            <a:spAutoFit/>
          </a:bodyPr>
          <a:lstStyle/>
          <a:p>
            <a:pPr algn="ctr"/>
            <a:r>
              <a:rPr sz="2000" b="0">
                <a:solidFill>
                  <a:srgbClr val="FFF5E6"/>
                </a:solidFill>
                <a:latin typeface="Avenir Next"/>
              </a:rPr>
              <a:t>From Bean to Cup — A Journey Through Flavor</a:t>
            </a:r>
          </a:p>
        </p:txBody>
      </p:sp>
      <p:sp>
        <p:nvSpPr>
          <p:cNvPr id="6" name="TextBox 5"/>
          <p:cNvSpPr txBox="1"/>
          <p:nvPr/>
        </p:nvSpPr>
        <p:spPr>
          <a:xfrm>
            <a:off x="11092000" y="6358000"/>
            <a:ext cx="700000" cy="300000"/>
          </a:xfrm>
          <a:prstGeom prst="rect">
            <a:avLst/>
          </a:prstGeom>
          <a:noFill/>
        </p:spPr>
        <p:txBody>
          <a:bodyPr wrap="square">
            <a:spAutoFit/>
          </a:bodyPr>
          <a:lstStyle/>
          <a:p>
            <a:pPr algn="r"/>
            <a:r>
              <a:rPr sz="1400" b="0">
                <a:solidFill>
                  <a:srgbClr val="B8A090"/>
                </a:solidFill>
                <a:latin typeface="Avenir Next"/>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2_origin_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57200" y="300000"/>
            <a:ext cx="5000000" cy="600000"/>
          </a:xfrm>
          <a:prstGeom prst="rect">
            <a:avLst/>
          </a:prstGeom>
          <a:noFill/>
        </p:spPr>
        <p:txBody>
          <a:bodyPr wrap="square">
            <a:spAutoFit/>
          </a:bodyPr>
          <a:lstStyle/>
          <a:p>
            <a:pPr algn="l"/>
            <a:r>
              <a:rPr sz="3600" b="1" spc="400">
                <a:solidFill>
                  <a:srgbClr val="FFFFFF"/>
                </a:solidFill>
                <a:latin typeface="Chalkboard SE"/>
              </a:rPr>
              <a:t>THE ORIGIN STORY</a:t>
            </a:r>
          </a:p>
        </p:txBody>
      </p:sp>
      <p:sp>
        <p:nvSpPr>
          <p:cNvPr id="4" name="Rectangle 3"/>
          <p:cNvSpPr/>
          <p:nvPr/>
        </p:nvSpPr>
        <p:spPr>
          <a:xfrm>
            <a:off x="457200" y="900000"/>
            <a:ext cx="1800000" cy="32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0000" y="1715100"/>
            <a:ext cx="5200000" cy="4500000"/>
          </a:xfrm>
          <a:prstGeom prst="rect">
            <a:avLst/>
          </a:prstGeom>
          <a:noFill/>
        </p:spPr>
        <p:txBody>
          <a:bodyPr wrap="square">
            <a:spAutoFit/>
          </a:bodyPr>
          <a:lstStyle/>
          <a:p>
            <a:pPr algn="l">
              <a:lnSpc>
                <a:spcPts val="2600"/>
              </a:lnSpc>
            </a:pPr>
            <a:r>
              <a:rPr sz="1600" b="0" dirty="0">
                <a:solidFill>
                  <a:srgbClr val="FFF5E6"/>
                </a:solidFill>
                <a:latin typeface="Avenir Next"/>
              </a:rPr>
              <a:t>Legend tells of an Ethiopian goat herder named Kaldi who noticed his goats dancing after eating bright red berries from a wild bush. That discovery in the 9th century sparked a revolution — from the ancient coffee forests of Ethiopia to the bustling cafes of Istanbul, Venice, and Vienna.
Today, coffee is the world's second most traded commodity, connecting over 125 million people across 70+ countries in a global chain from seed to cup.</a:t>
            </a:r>
          </a:p>
        </p:txBody>
      </p:sp>
      <p:sp>
        <p:nvSpPr>
          <p:cNvPr id="6" name="Rounded Rectangle 5"/>
          <p:cNvSpPr/>
          <p:nvPr/>
        </p:nvSpPr>
        <p:spPr>
          <a:xfrm>
            <a:off x="457200" y="5727000"/>
            <a:ext cx="3200000" cy="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0000" y="5727000"/>
            <a:ext cx="2800000" cy="300000"/>
          </a:xfrm>
          <a:prstGeom prst="rect">
            <a:avLst/>
          </a:prstGeom>
          <a:noFill/>
        </p:spPr>
        <p:txBody>
          <a:bodyPr wrap="square">
            <a:spAutoFit/>
          </a:bodyPr>
          <a:lstStyle/>
          <a:p>
            <a:pPr algn="l"/>
            <a:r>
              <a:rPr sz="2000" b="1" spc="200">
                <a:solidFill>
                  <a:srgbClr val="FFE082"/>
                </a:solidFill>
                <a:latin typeface="Chalkboard SE"/>
              </a:rPr>
              <a:t>125M+ PEOPLE</a:t>
            </a:r>
          </a:p>
        </p:txBody>
      </p:sp>
      <p:sp>
        <p:nvSpPr>
          <p:cNvPr id="8" name="TextBox 7"/>
          <p:cNvSpPr txBox="1"/>
          <p:nvPr/>
        </p:nvSpPr>
        <p:spPr>
          <a:xfrm>
            <a:off x="600000" y="6065100"/>
            <a:ext cx="2800000" cy="300000"/>
          </a:xfrm>
          <a:prstGeom prst="rect">
            <a:avLst/>
          </a:prstGeom>
          <a:noFill/>
        </p:spPr>
        <p:txBody>
          <a:bodyPr wrap="square">
            <a:spAutoFit/>
          </a:bodyPr>
          <a:lstStyle/>
          <a:p>
            <a:pPr algn="l"/>
            <a:r>
              <a:rPr sz="1400" b="0">
                <a:solidFill>
                  <a:srgbClr val="FFF5E6"/>
                </a:solidFill>
                <a:latin typeface="Avenir Next"/>
              </a:rPr>
              <a:t>Connected through the global coffee chain</a:t>
            </a:r>
          </a:p>
        </p:txBody>
      </p:sp>
      <p:sp>
        <p:nvSpPr>
          <p:cNvPr id="9" name="TextBox 8"/>
          <p:cNvSpPr txBox="1"/>
          <p:nvPr/>
        </p:nvSpPr>
        <p:spPr>
          <a:xfrm>
            <a:off x="11092000" y="6358000"/>
            <a:ext cx="700000" cy="300000"/>
          </a:xfrm>
          <a:prstGeom prst="rect">
            <a:avLst/>
          </a:prstGeom>
          <a:noFill/>
        </p:spPr>
        <p:txBody>
          <a:bodyPr wrap="square">
            <a:spAutoFit/>
          </a:bodyPr>
          <a:lstStyle/>
          <a:p>
            <a:pPr algn="r"/>
            <a:r>
              <a:rPr sz="1400" b="0">
                <a:solidFill>
                  <a:srgbClr val="B8A090"/>
                </a:solidFill>
                <a:latin typeface="Avenir Next"/>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beans_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596000" y="200000"/>
            <a:ext cx="7000000" cy="600000"/>
          </a:xfrm>
          <a:prstGeom prst="rect">
            <a:avLst/>
          </a:prstGeom>
          <a:noFill/>
        </p:spPr>
        <p:txBody>
          <a:bodyPr wrap="square">
            <a:spAutoFit/>
          </a:bodyPr>
          <a:lstStyle/>
          <a:p>
            <a:pPr algn="ctr"/>
            <a:r>
              <a:rPr sz="3600" b="1" spc="400">
                <a:solidFill>
                  <a:srgbClr val="FFFFFF"/>
                </a:solidFill>
                <a:latin typeface="Chalkboard SE"/>
              </a:rPr>
              <a:t>ARABICA vs ROBUSTA</a:t>
            </a:r>
          </a:p>
        </p:txBody>
      </p:sp>
      <p:sp>
        <p:nvSpPr>
          <p:cNvPr id="4" name="TextBox 3"/>
          <p:cNvSpPr txBox="1"/>
          <p:nvPr/>
        </p:nvSpPr>
        <p:spPr>
          <a:xfrm>
            <a:off x="2596000" y="800000"/>
            <a:ext cx="7000000" cy="400000"/>
          </a:xfrm>
          <a:prstGeom prst="rect">
            <a:avLst/>
          </a:prstGeom>
          <a:noFill/>
        </p:spPr>
        <p:txBody>
          <a:bodyPr wrap="square">
            <a:spAutoFit/>
          </a:bodyPr>
          <a:lstStyle/>
          <a:p>
            <a:pPr algn="ctr"/>
            <a:r>
              <a:rPr sz="1800" b="0">
                <a:solidFill>
                  <a:srgbClr val="FFF5E6"/>
                </a:solidFill>
                <a:latin typeface="Avenir Next"/>
              </a:rPr>
              <a:t>Two beans, two personalities</a:t>
            </a:r>
          </a:p>
        </p:txBody>
      </p:sp>
      <p:sp>
        <p:nvSpPr>
          <p:cNvPr id="5" name="Rectangle 4"/>
          <p:cNvSpPr/>
          <p:nvPr/>
        </p:nvSpPr>
        <p:spPr>
          <a:xfrm>
            <a:off x="5096000" y="1200000"/>
            <a:ext cx="2000000" cy="28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0000" y="1400000"/>
            <a:ext cx="4500000" cy="4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000" y="1550000"/>
            <a:ext cx="4100000" cy="400000"/>
          </a:xfrm>
          <a:prstGeom prst="rect">
            <a:avLst/>
          </a:prstGeom>
          <a:noFill/>
        </p:spPr>
        <p:txBody>
          <a:bodyPr wrap="square">
            <a:spAutoFit/>
          </a:bodyPr>
          <a:lstStyle/>
          <a:p>
            <a:pPr algn="ctr"/>
            <a:r>
              <a:rPr sz="2400" b="1" spc="300">
                <a:solidFill>
                  <a:srgbClr val="FFE082"/>
                </a:solidFill>
                <a:latin typeface="Chalkboard SE"/>
              </a:rPr>
              <a:t>ARABICA</a:t>
            </a:r>
          </a:p>
        </p:txBody>
      </p:sp>
      <p:sp>
        <p:nvSpPr>
          <p:cNvPr id="8" name="Rectangle 7"/>
          <p:cNvSpPr/>
          <p:nvPr/>
        </p:nvSpPr>
        <p:spPr>
          <a:xfrm>
            <a:off x="800000" y="1950000"/>
            <a:ext cx="4100000" cy="24000"/>
          </a:xfrm>
          <a:prstGeom prst="rect">
            <a:avLst/>
          </a:prstGeom>
          <a:solidFill>
            <a:srgbClr val="FFE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0000" y="2100000"/>
            <a:ext cx="4100000" cy="250000"/>
          </a:xfrm>
          <a:prstGeom prst="rect">
            <a:avLst/>
          </a:prstGeom>
          <a:noFill/>
        </p:spPr>
        <p:txBody>
          <a:bodyPr wrap="square">
            <a:spAutoFit/>
          </a:bodyPr>
          <a:lstStyle/>
          <a:p>
            <a:pPr algn="l"/>
            <a:r>
              <a:rPr sz="1400" b="1">
                <a:solidFill>
                  <a:srgbClr val="FF8A65"/>
                </a:solidFill>
                <a:latin typeface="Avenir Next"/>
              </a:rPr>
              <a:t>Flavor</a:t>
            </a:r>
          </a:p>
        </p:txBody>
      </p:sp>
      <p:sp>
        <p:nvSpPr>
          <p:cNvPr id="10" name="TextBox 9"/>
          <p:cNvSpPr txBox="1"/>
          <p:nvPr/>
        </p:nvSpPr>
        <p:spPr>
          <a:xfrm>
            <a:off x="800000" y="2388100"/>
            <a:ext cx="4100000" cy="250000"/>
          </a:xfrm>
          <a:prstGeom prst="rect">
            <a:avLst/>
          </a:prstGeom>
          <a:noFill/>
        </p:spPr>
        <p:txBody>
          <a:bodyPr wrap="square">
            <a:spAutoFit/>
          </a:bodyPr>
          <a:lstStyle/>
          <a:p>
            <a:pPr algn="l"/>
            <a:r>
              <a:rPr sz="1500" b="0">
                <a:solidFill>
                  <a:srgbClr val="FFF5E6"/>
                </a:solidFill>
                <a:latin typeface="Avenir Next"/>
              </a:rPr>
              <a:t>Sweet, fruity, complex</a:t>
            </a:r>
          </a:p>
        </p:txBody>
      </p:sp>
      <p:sp>
        <p:nvSpPr>
          <p:cNvPr id="11" name="TextBox 10"/>
          <p:cNvSpPr txBox="1"/>
          <p:nvPr/>
        </p:nvSpPr>
        <p:spPr>
          <a:xfrm>
            <a:off x="800000" y="2650000"/>
            <a:ext cx="4100000" cy="250000"/>
          </a:xfrm>
          <a:prstGeom prst="rect">
            <a:avLst/>
          </a:prstGeom>
          <a:noFill/>
        </p:spPr>
        <p:txBody>
          <a:bodyPr wrap="square">
            <a:spAutoFit/>
          </a:bodyPr>
          <a:lstStyle/>
          <a:p>
            <a:pPr algn="l"/>
            <a:r>
              <a:rPr sz="1400" b="1">
                <a:solidFill>
                  <a:srgbClr val="FF8A65"/>
                </a:solidFill>
                <a:latin typeface="Avenir Next"/>
              </a:rPr>
              <a:t>Caffeine</a:t>
            </a:r>
          </a:p>
        </p:txBody>
      </p:sp>
      <p:sp>
        <p:nvSpPr>
          <p:cNvPr id="12" name="TextBox 11"/>
          <p:cNvSpPr txBox="1"/>
          <p:nvPr/>
        </p:nvSpPr>
        <p:spPr>
          <a:xfrm>
            <a:off x="800000" y="2938100"/>
            <a:ext cx="4100000" cy="250000"/>
          </a:xfrm>
          <a:prstGeom prst="rect">
            <a:avLst/>
          </a:prstGeom>
          <a:noFill/>
        </p:spPr>
        <p:txBody>
          <a:bodyPr wrap="square">
            <a:spAutoFit/>
          </a:bodyPr>
          <a:lstStyle/>
          <a:p>
            <a:pPr algn="l"/>
            <a:r>
              <a:rPr sz="1500" b="0">
                <a:solidFill>
                  <a:srgbClr val="FFF5E6"/>
                </a:solidFill>
                <a:latin typeface="Avenir Next"/>
              </a:rPr>
              <a:t>1.2% — smooth, gentle</a:t>
            </a:r>
          </a:p>
        </p:txBody>
      </p:sp>
      <p:sp>
        <p:nvSpPr>
          <p:cNvPr id="13" name="TextBox 12"/>
          <p:cNvSpPr txBox="1"/>
          <p:nvPr/>
        </p:nvSpPr>
        <p:spPr>
          <a:xfrm>
            <a:off x="800000" y="3200000"/>
            <a:ext cx="4100000" cy="250000"/>
          </a:xfrm>
          <a:prstGeom prst="rect">
            <a:avLst/>
          </a:prstGeom>
          <a:noFill/>
        </p:spPr>
        <p:txBody>
          <a:bodyPr wrap="square">
            <a:spAutoFit/>
          </a:bodyPr>
          <a:lstStyle/>
          <a:p>
            <a:pPr algn="l"/>
            <a:r>
              <a:rPr sz="1400" b="1">
                <a:solidFill>
                  <a:srgbClr val="FF8A65"/>
                </a:solidFill>
                <a:latin typeface="Avenir Next"/>
              </a:rPr>
              <a:t>Growing</a:t>
            </a:r>
          </a:p>
        </p:txBody>
      </p:sp>
      <p:sp>
        <p:nvSpPr>
          <p:cNvPr id="14" name="TextBox 13"/>
          <p:cNvSpPr txBox="1"/>
          <p:nvPr/>
        </p:nvSpPr>
        <p:spPr>
          <a:xfrm>
            <a:off x="800000" y="3488100"/>
            <a:ext cx="4100000" cy="250000"/>
          </a:xfrm>
          <a:prstGeom prst="rect">
            <a:avLst/>
          </a:prstGeom>
          <a:noFill/>
        </p:spPr>
        <p:txBody>
          <a:bodyPr wrap="square">
            <a:spAutoFit/>
          </a:bodyPr>
          <a:lstStyle/>
          <a:p>
            <a:pPr algn="l"/>
            <a:r>
              <a:rPr sz="1500" b="0">
                <a:solidFill>
                  <a:srgbClr val="FFF5E6"/>
                </a:solidFill>
                <a:latin typeface="Avenir Next"/>
              </a:rPr>
              <a:t>900-2000m altitude</a:t>
            </a:r>
          </a:p>
        </p:txBody>
      </p:sp>
      <p:sp>
        <p:nvSpPr>
          <p:cNvPr id="15" name="TextBox 14"/>
          <p:cNvSpPr txBox="1"/>
          <p:nvPr/>
        </p:nvSpPr>
        <p:spPr>
          <a:xfrm>
            <a:off x="800000" y="3750000"/>
            <a:ext cx="4100000" cy="250000"/>
          </a:xfrm>
          <a:prstGeom prst="rect">
            <a:avLst/>
          </a:prstGeom>
          <a:noFill/>
        </p:spPr>
        <p:txBody>
          <a:bodyPr wrap="square">
            <a:spAutoFit/>
          </a:bodyPr>
          <a:lstStyle/>
          <a:p>
            <a:pPr algn="l"/>
            <a:r>
              <a:rPr sz="1400" b="1">
                <a:solidFill>
                  <a:srgbClr val="FF8A65"/>
                </a:solidFill>
                <a:latin typeface="Avenir Next"/>
              </a:rPr>
              <a:t>Share</a:t>
            </a:r>
          </a:p>
        </p:txBody>
      </p:sp>
      <p:sp>
        <p:nvSpPr>
          <p:cNvPr id="16" name="TextBox 15"/>
          <p:cNvSpPr txBox="1"/>
          <p:nvPr/>
        </p:nvSpPr>
        <p:spPr>
          <a:xfrm>
            <a:off x="800000" y="4038100"/>
            <a:ext cx="4100000" cy="250000"/>
          </a:xfrm>
          <a:prstGeom prst="rect">
            <a:avLst/>
          </a:prstGeom>
          <a:noFill/>
        </p:spPr>
        <p:txBody>
          <a:bodyPr wrap="square">
            <a:spAutoFit/>
          </a:bodyPr>
          <a:lstStyle/>
          <a:p>
            <a:pPr algn="l"/>
            <a:r>
              <a:rPr sz="1500" b="0">
                <a:solidFill>
                  <a:srgbClr val="FFF5E6"/>
                </a:solidFill>
                <a:latin typeface="Avenir Next"/>
              </a:rPr>
              <a:t>60-70% of world production</a:t>
            </a:r>
          </a:p>
        </p:txBody>
      </p:sp>
      <p:sp>
        <p:nvSpPr>
          <p:cNvPr id="17" name="TextBox 16"/>
          <p:cNvSpPr txBox="1"/>
          <p:nvPr/>
        </p:nvSpPr>
        <p:spPr>
          <a:xfrm>
            <a:off x="800000" y="4300000"/>
            <a:ext cx="4100000" cy="250000"/>
          </a:xfrm>
          <a:prstGeom prst="rect">
            <a:avLst/>
          </a:prstGeom>
          <a:noFill/>
        </p:spPr>
        <p:txBody>
          <a:bodyPr wrap="square">
            <a:spAutoFit/>
          </a:bodyPr>
          <a:lstStyle/>
          <a:p>
            <a:pPr algn="l"/>
            <a:r>
              <a:rPr sz="1400" b="1">
                <a:solidFill>
                  <a:srgbClr val="FF8A65"/>
                </a:solidFill>
                <a:latin typeface="Avenir Next"/>
              </a:rPr>
              <a:t>Price</a:t>
            </a:r>
          </a:p>
        </p:txBody>
      </p:sp>
      <p:sp>
        <p:nvSpPr>
          <p:cNvPr id="18" name="TextBox 17"/>
          <p:cNvSpPr txBox="1"/>
          <p:nvPr/>
        </p:nvSpPr>
        <p:spPr>
          <a:xfrm>
            <a:off x="800000" y="4588100"/>
            <a:ext cx="4100000" cy="250000"/>
          </a:xfrm>
          <a:prstGeom prst="rect">
            <a:avLst/>
          </a:prstGeom>
          <a:noFill/>
        </p:spPr>
        <p:txBody>
          <a:bodyPr wrap="square">
            <a:spAutoFit/>
          </a:bodyPr>
          <a:lstStyle/>
          <a:p>
            <a:pPr algn="l"/>
            <a:r>
              <a:rPr sz="1500" b="0">
                <a:solidFill>
                  <a:srgbClr val="FFF5E6"/>
                </a:solidFill>
                <a:latin typeface="Avenir Next"/>
              </a:rPr>
              <a:t>Premium — specialty grade</a:t>
            </a:r>
          </a:p>
        </p:txBody>
      </p:sp>
      <p:sp>
        <p:nvSpPr>
          <p:cNvPr id="19" name="TextBox 18"/>
          <p:cNvSpPr txBox="1"/>
          <p:nvPr/>
        </p:nvSpPr>
        <p:spPr>
          <a:xfrm>
            <a:off x="800000" y="4850000"/>
            <a:ext cx="4100000" cy="250000"/>
          </a:xfrm>
          <a:prstGeom prst="rect">
            <a:avLst/>
          </a:prstGeom>
          <a:noFill/>
        </p:spPr>
        <p:txBody>
          <a:bodyPr wrap="square">
            <a:spAutoFit/>
          </a:bodyPr>
          <a:lstStyle/>
          <a:p>
            <a:pPr algn="l"/>
            <a:r>
              <a:rPr sz="1400" b="1">
                <a:solidFill>
                  <a:srgbClr val="FF8A65"/>
                </a:solidFill>
                <a:latin typeface="Avenir Next"/>
              </a:rPr>
              <a:t>Body</a:t>
            </a:r>
          </a:p>
        </p:txBody>
      </p:sp>
      <p:sp>
        <p:nvSpPr>
          <p:cNvPr id="20" name="TextBox 19"/>
          <p:cNvSpPr txBox="1"/>
          <p:nvPr/>
        </p:nvSpPr>
        <p:spPr>
          <a:xfrm>
            <a:off x="800000" y="5138100"/>
            <a:ext cx="4100000" cy="250000"/>
          </a:xfrm>
          <a:prstGeom prst="rect">
            <a:avLst/>
          </a:prstGeom>
          <a:noFill/>
        </p:spPr>
        <p:txBody>
          <a:bodyPr wrap="square">
            <a:spAutoFit/>
          </a:bodyPr>
          <a:lstStyle/>
          <a:p>
            <a:pPr algn="l"/>
            <a:r>
              <a:rPr sz="1500" b="0">
                <a:solidFill>
                  <a:srgbClr val="FFF5E6"/>
                </a:solidFill>
                <a:latin typeface="Avenir Next"/>
              </a:rPr>
              <a:t>Light to medium, bright acidity</a:t>
            </a:r>
          </a:p>
        </p:txBody>
      </p:sp>
      <p:sp>
        <p:nvSpPr>
          <p:cNvPr id="21" name="Rounded Rectangle 20"/>
          <p:cNvSpPr/>
          <p:nvPr/>
        </p:nvSpPr>
        <p:spPr>
          <a:xfrm>
            <a:off x="7092000" y="1400000"/>
            <a:ext cx="4500000" cy="4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92000" y="1550000"/>
            <a:ext cx="4100000" cy="400000"/>
          </a:xfrm>
          <a:prstGeom prst="rect">
            <a:avLst/>
          </a:prstGeom>
          <a:noFill/>
        </p:spPr>
        <p:txBody>
          <a:bodyPr wrap="square">
            <a:spAutoFit/>
          </a:bodyPr>
          <a:lstStyle/>
          <a:p>
            <a:pPr algn="ctr"/>
            <a:r>
              <a:rPr sz="2400" b="1" spc="300">
                <a:solidFill>
                  <a:srgbClr val="FFE082"/>
                </a:solidFill>
                <a:latin typeface="Chalkboard SE"/>
              </a:rPr>
              <a:t>ROBUSTA</a:t>
            </a:r>
          </a:p>
        </p:txBody>
      </p:sp>
      <p:sp>
        <p:nvSpPr>
          <p:cNvPr id="23" name="Rectangle 22"/>
          <p:cNvSpPr/>
          <p:nvPr/>
        </p:nvSpPr>
        <p:spPr>
          <a:xfrm>
            <a:off x="7292000" y="1950000"/>
            <a:ext cx="4100000" cy="24000"/>
          </a:xfrm>
          <a:prstGeom prst="rect">
            <a:avLst/>
          </a:prstGeom>
          <a:solidFill>
            <a:srgbClr val="FFE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92000" y="2100000"/>
            <a:ext cx="4100000" cy="250000"/>
          </a:xfrm>
          <a:prstGeom prst="rect">
            <a:avLst/>
          </a:prstGeom>
          <a:noFill/>
        </p:spPr>
        <p:txBody>
          <a:bodyPr wrap="square">
            <a:spAutoFit/>
          </a:bodyPr>
          <a:lstStyle/>
          <a:p>
            <a:pPr algn="l"/>
            <a:r>
              <a:rPr sz="1400" b="1">
                <a:solidFill>
                  <a:srgbClr val="FF8A65"/>
                </a:solidFill>
                <a:latin typeface="Avenir Next"/>
              </a:rPr>
              <a:t>Flavor</a:t>
            </a:r>
          </a:p>
        </p:txBody>
      </p:sp>
      <p:sp>
        <p:nvSpPr>
          <p:cNvPr id="25" name="TextBox 24"/>
          <p:cNvSpPr txBox="1"/>
          <p:nvPr/>
        </p:nvSpPr>
        <p:spPr>
          <a:xfrm>
            <a:off x="7292000" y="2388100"/>
            <a:ext cx="4100000" cy="250000"/>
          </a:xfrm>
          <a:prstGeom prst="rect">
            <a:avLst/>
          </a:prstGeom>
          <a:noFill/>
        </p:spPr>
        <p:txBody>
          <a:bodyPr wrap="square">
            <a:spAutoFit/>
          </a:bodyPr>
          <a:lstStyle/>
          <a:p>
            <a:pPr algn="l"/>
            <a:r>
              <a:rPr sz="1500" b="0">
                <a:solidFill>
                  <a:srgbClr val="FFF5E6"/>
                </a:solidFill>
                <a:latin typeface="Avenir Next"/>
              </a:rPr>
              <a:t>Bold, earthy, bitter</a:t>
            </a:r>
          </a:p>
        </p:txBody>
      </p:sp>
      <p:sp>
        <p:nvSpPr>
          <p:cNvPr id="26" name="TextBox 25"/>
          <p:cNvSpPr txBox="1"/>
          <p:nvPr/>
        </p:nvSpPr>
        <p:spPr>
          <a:xfrm>
            <a:off x="7292000" y="2650000"/>
            <a:ext cx="4100000" cy="250000"/>
          </a:xfrm>
          <a:prstGeom prst="rect">
            <a:avLst/>
          </a:prstGeom>
          <a:noFill/>
        </p:spPr>
        <p:txBody>
          <a:bodyPr wrap="square">
            <a:spAutoFit/>
          </a:bodyPr>
          <a:lstStyle/>
          <a:p>
            <a:pPr algn="l"/>
            <a:r>
              <a:rPr sz="1400" b="1">
                <a:solidFill>
                  <a:srgbClr val="FF8A65"/>
                </a:solidFill>
                <a:latin typeface="Avenir Next"/>
              </a:rPr>
              <a:t>Caffeine</a:t>
            </a:r>
          </a:p>
        </p:txBody>
      </p:sp>
      <p:sp>
        <p:nvSpPr>
          <p:cNvPr id="27" name="TextBox 26"/>
          <p:cNvSpPr txBox="1"/>
          <p:nvPr/>
        </p:nvSpPr>
        <p:spPr>
          <a:xfrm>
            <a:off x="7292000" y="2938100"/>
            <a:ext cx="4100000" cy="250000"/>
          </a:xfrm>
          <a:prstGeom prst="rect">
            <a:avLst/>
          </a:prstGeom>
          <a:noFill/>
        </p:spPr>
        <p:txBody>
          <a:bodyPr wrap="square">
            <a:spAutoFit/>
          </a:bodyPr>
          <a:lstStyle/>
          <a:p>
            <a:pPr algn="l"/>
            <a:r>
              <a:rPr sz="1500" b="0">
                <a:solidFill>
                  <a:srgbClr val="FFF5E6"/>
                </a:solidFill>
                <a:latin typeface="Avenir Next"/>
              </a:rPr>
              <a:t>2.7% — strong, punchy</a:t>
            </a:r>
          </a:p>
        </p:txBody>
      </p:sp>
      <p:sp>
        <p:nvSpPr>
          <p:cNvPr id="28" name="TextBox 27"/>
          <p:cNvSpPr txBox="1"/>
          <p:nvPr/>
        </p:nvSpPr>
        <p:spPr>
          <a:xfrm>
            <a:off x="7292000" y="3200000"/>
            <a:ext cx="4100000" cy="250000"/>
          </a:xfrm>
          <a:prstGeom prst="rect">
            <a:avLst/>
          </a:prstGeom>
          <a:noFill/>
        </p:spPr>
        <p:txBody>
          <a:bodyPr wrap="square">
            <a:spAutoFit/>
          </a:bodyPr>
          <a:lstStyle/>
          <a:p>
            <a:pPr algn="l"/>
            <a:r>
              <a:rPr sz="1400" b="1">
                <a:solidFill>
                  <a:srgbClr val="FF8A65"/>
                </a:solidFill>
                <a:latin typeface="Avenir Next"/>
              </a:rPr>
              <a:t>Growing</a:t>
            </a:r>
          </a:p>
        </p:txBody>
      </p:sp>
      <p:sp>
        <p:nvSpPr>
          <p:cNvPr id="29" name="TextBox 28"/>
          <p:cNvSpPr txBox="1"/>
          <p:nvPr/>
        </p:nvSpPr>
        <p:spPr>
          <a:xfrm>
            <a:off x="7292000" y="3488100"/>
            <a:ext cx="4100000" cy="250000"/>
          </a:xfrm>
          <a:prstGeom prst="rect">
            <a:avLst/>
          </a:prstGeom>
          <a:noFill/>
        </p:spPr>
        <p:txBody>
          <a:bodyPr wrap="square">
            <a:spAutoFit/>
          </a:bodyPr>
          <a:lstStyle/>
          <a:p>
            <a:pPr algn="l"/>
            <a:r>
              <a:rPr sz="1500" b="0">
                <a:solidFill>
                  <a:srgbClr val="FFF5E6"/>
                </a:solidFill>
                <a:latin typeface="Avenir Next"/>
              </a:rPr>
              <a:t>0-800m altitude</a:t>
            </a:r>
          </a:p>
        </p:txBody>
      </p:sp>
      <p:sp>
        <p:nvSpPr>
          <p:cNvPr id="30" name="TextBox 29"/>
          <p:cNvSpPr txBox="1"/>
          <p:nvPr/>
        </p:nvSpPr>
        <p:spPr>
          <a:xfrm>
            <a:off x="7292000" y="3750000"/>
            <a:ext cx="4100000" cy="250000"/>
          </a:xfrm>
          <a:prstGeom prst="rect">
            <a:avLst/>
          </a:prstGeom>
          <a:noFill/>
        </p:spPr>
        <p:txBody>
          <a:bodyPr wrap="square">
            <a:spAutoFit/>
          </a:bodyPr>
          <a:lstStyle/>
          <a:p>
            <a:pPr algn="l"/>
            <a:r>
              <a:rPr sz="1400" b="1">
                <a:solidFill>
                  <a:srgbClr val="FF8A65"/>
                </a:solidFill>
                <a:latin typeface="Avenir Next"/>
              </a:rPr>
              <a:t>Share</a:t>
            </a:r>
          </a:p>
        </p:txBody>
      </p:sp>
      <p:sp>
        <p:nvSpPr>
          <p:cNvPr id="31" name="TextBox 30"/>
          <p:cNvSpPr txBox="1"/>
          <p:nvPr/>
        </p:nvSpPr>
        <p:spPr>
          <a:xfrm>
            <a:off x="7292000" y="4038100"/>
            <a:ext cx="4100000" cy="250000"/>
          </a:xfrm>
          <a:prstGeom prst="rect">
            <a:avLst/>
          </a:prstGeom>
          <a:noFill/>
        </p:spPr>
        <p:txBody>
          <a:bodyPr wrap="square">
            <a:spAutoFit/>
          </a:bodyPr>
          <a:lstStyle/>
          <a:p>
            <a:pPr algn="l"/>
            <a:r>
              <a:rPr sz="1500" b="0">
                <a:solidFill>
                  <a:srgbClr val="FFF5E6"/>
                </a:solidFill>
                <a:latin typeface="Avenir Next"/>
              </a:rPr>
              <a:t>30-40% of world production</a:t>
            </a:r>
          </a:p>
        </p:txBody>
      </p:sp>
      <p:sp>
        <p:nvSpPr>
          <p:cNvPr id="32" name="TextBox 31"/>
          <p:cNvSpPr txBox="1"/>
          <p:nvPr/>
        </p:nvSpPr>
        <p:spPr>
          <a:xfrm>
            <a:off x="7292000" y="4300000"/>
            <a:ext cx="4100000" cy="250000"/>
          </a:xfrm>
          <a:prstGeom prst="rect">
            <a:avLst/>
          </a:prstGeom>
          <a:noFill/>
        </p:spPr>
        <p:txBody>
          <a:bodyPr wrap="square">
            <a:spAutoFit/>
          </a:bodyPr>
          <a:lstStyle/>
          <a:p>
            <a:pPr algn="l"/>
            <a:r>
              <a:rPr sz="1400" b="1">
                <a:solidFill>
                  <a:srgbClr val="FF8A65"/>
                </a:solidFill>
                <a:latin typeface="Avenir Next"/>
              </a:rPr>
              <a:t>Price</a:t>
            </a:r>
          </a:p>
        </p:txBody>
      </p:sp>
      <p:sp>
        <p:nvSpPr>
          <p:cNvPr id="33" name="TextBox 32"/>
          <p:cNvSpPr txBox="1"/>
          <p:nvPr/>
        </p:nvSpPr>
        <p:spPr>
          <a:xfrm>
            <a:off x="7292000" y="4588100"/>
            <a:ext cx="4100000" cy="250000"/>
          </a:xfrm>
          <a:prstGeom prst="rect">
            <a:avLst/>
          </a:prstGeom>
          <a:noFill/>
        </p:spPr>
        <p:txBody>
          <a:bodyPr wrap="square">
            <a:spAutoFit/>
          </a:bodyPr>
          <a:lstStyle/>
          <a:p>
            <a:pPr algn="l"/>
            <a:r>
              <a:rPr sz="1500" b="0">
                <a:solidFill>
                  <a:srgbClr val="FFF5E6"/>
                </a:solidFill>
                <a:latin typeface="Avenir Next"/>
              </a:rPr>
              <a:t>Affordable — instant/espresso</a:t>
            </a:r>
          </a:p>
        </p:txBody>
      </p:sp>
      <p:sp>
        <p:nvSpPr>
          <p:cNvPr id="34" name="TextBox 33"/>
          <p:cNvSpPr txBox="1"/>
          <p:nvPr/>
        </p:nvSpPr>
        <p:spPr>
          <a:xfrm>
            <a:off x="7292000" y="4850000"/>
            <a:ext cx="4100000" cy="250000"/>
          </a:xfrm>
          <a:prstGeom prst="rect">
            <a:avLst/>
          </a:prstGeom>
          <a:noFill/>
        </p:spPr>
        <p:txBody>
          <a:bodyPr wrap="square">
            <a:spAutoFit/>
          </a:bodyPr>
          <a:lstStyle/>
          <a:p>
            <a:pPr algn="l"/>
            <a:r>
              <a:rPr sz="1400" b="1">
                <a:solidFill>
                  <a:srgbClr val="FF8A65"/>
                </a:solidFill>
                <a:latin typeface="Avenir Next"/>
              </a:rPr>
              <a:t>Body</a:t>
            </a:r>
          </a:p>
        </p:txBody>
      </p:sp>
      <p:sp>
        <p:nvSpPr>
          <p:cNvPr id="35" name="TextBox 34"/>
          <p:cNvSpPr txBox="1"/>
          <p:nvPr/>
        </p:nvSpPr>
        <p:spPr>
          <a:xfrm>
            <a:off x="7292000" y="5138100"/>
            <a:ext cx="4100000" cy="250000"/>
          </a:xfrm>
          <a:prstGeom prst="rect">
            <a:avLst/>
          </a:prstGeom>
          <a:noFill/>
        </p:spPr>
        <p:txBody>
          <a:bodyPr wrap="square">
            <a:spAutoFit/>
          </a:bodyPr>
          <a:lstStyle/>
          <a:p>
            <a:pPr algn="l"/>
            <a:r>
              <a:rPr sz="1500" b="0">
                <a:solidFill>
                  <a:srgbClr val="FFF5E6"/>
                </a:solidFill>
                <a:latin typeface="Avenir Next"/>
              </a:rPr>
              <a:t>Full, heavy, low acidity</a:t>
            </a:r>
          </a:p>
        </p:txBody>
      </p:sp>
      <p:sp>
        <p:nvSpPr>
          <p:cNvPr id="36" name="Rounded Rectangle 35"/>
          <p:cNvSpPr/>
          <p:nvPr/>
        </p:nvSpPr>
        <p:spPr>
          <a:xfrm>
            <a:off x="5746000" y="3200000"/>
            <a:ext cx="700000" cy="700000"/>
          </a:xfrm>
          <a:prstGeom prst="roundRect">
            <a:avLst>
              <a:gd name="adj" fmla="val 50000"/>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746000" y="3300000"/>
            <a:ext cx="700000" cy="500000"/>
          </a:xfrm>
          <a:prstGeom prst="rect">
            <a:avLst/>
          </a:prstGeom>
          <a:noFill/>
        </p:spPr>
        <p:txBody>
          <a:bodyPr wrap="square">
            <a:spAutoFit/>
          </a:bodyPr>
          <a:lstStyle/>
          <a:p>
            <a:pPr algn="ctr"/>
            <a:r>
              <a:rPr sz="2800" b="1">
                <a:solidFill>
                  <a:srgbClr val="FFFFFF"/>
                </a:solidFill>
                <a:latin typeface="Chalkboard SE"/>
              </a:rPr>
              <a:t>VS</a:t>
            </a:r>
          </a:p>
        </p:txBody>
      </p:sp>
      <p:sp>
        <p:nvSpPr>
          <p:cNvPr id="38" name="TextBox 37"/>
          <p:cNvSpPr txBox="1"/>
          <p:nvPr/>
        </p:nvSpPr>
        <p:spPr>
          <a:xfrm>
            <a:off x="11092000" y="6358000"/>
            <a:ext cx="700000" cy="300000"/>
          </a:xfrm>
          <a:prstGeom prst="rect">
            <a:avLst/>
          </a:prstGeom>
          <a:noFill/>
        </p:spPr>
        <p:txBody>
          <a:bodyPr wrap="square">
            <a:spAutoFit/>
          </a:bodyPr>
          <a:lstStyle/>
          <a:p>
            <a:pPr algn="r"/>
            <a:r>
              <a:rPr sz="1400" b="0">
                <a:solidFill>
                  <a:srgbClr val="B8A090"/>
                </a:solidFill>
                <a:latin typeface="Avenir Next"/>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brewing_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457200" y="300000"/>
            <a:ext cx="11277600" cy="600000"/>
          </a:xfrm>
          <a:prstGeom prst="rect">
            <a:avLst/>
          </a:prstGeom>
          <a:noFill/>
        </p:spPr>
        <p:txBody>
          <a:bodyPr wrap="square">
            <a:spAutoFit/>
          </a:bodyPr>
          <a:lstStyle/>
          <a:p>
            <a:pPr algn="l"/>
            <a:r>
              <a:rPr sz="3600" b="1" spc="400">
                <a:solidFill>
                  <a:srgbClr val="FFFFFF"/>
                </a:solidFill>
                <a:latin typeface="Chalkboard SE"/>
              </a:rPr>
              <a:t>BREWING METHODS</a:t>
            </a:r>
          </a:p>
        </p:txBody>
      </p:sp>
      <p:sp>
        <p:nvSpPr>
          <p:cNvPr id="4" name="TextBox 3"/>
          <p:cNvSpPr txBox="1"/>
          <p:nvPr/>
        </p:nvSpPr>
        <p:spPr>
          <a:xfrm>
            <a:off x="457200" y="900000"/>
            <a:ext cx="11277600" cy="400000"/>
          </a:xfrm>
          <a:prstGeom prst="rect">
            <a:avLst/>
          </a:prstGeom>
          <a:noFill/>
        </p:spPr>
        <p:txBody>
          <a:bodyPr wrap="square">
            <a:spAutoFit/>
          </a:bodyPr>
          <a:lstStyle/>
          <a:p>
            <a:pPr algn="l"/>
            <a:r>
              <a:rPr sz="1800" b="0">
                <a:solidFill>
                  <a:srgbClr val="FFF5E6"/>
                </a:solidFill>
                <a:latin typeface="Avenir Next"/>
              </a:rPr>
              <a:t>Four ways to unlock your perfect cup</a:t>
            </a:r>
          </a:p>
        </p:txBody>
      </p:sp>
      <p:sp>
        <p:nvSpPr>
          <p:cNvPr id="6" name="Rounded Rectangle 5"/>
          <p:cNvSpPr/>
          <p:nvPr/>
        </p:nvSpPr>
        <p:spPr>
          <a:xfrm>
            <a:off x="457200" y="3700000"/>
            <a:ext cx="2200000" cy="2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07200" y="3760000"/>
            <a:ext cx="1900000" cy="28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7200" y="3850000"/>
            <a:ext cx="1900000" cy="320000"/>
          </a:xfrm>
          <a:prstGeom prst="rect">
            <a:avLst/>
          </a:prstGeom>
          <a:noFill/>
        </p:spPr>
        <p:txBody>
          <a:bodyPr wrap="square">
            <a:spAutoFit/>
          </a:bodyPr>
          <a:lstStyle/>
          <a:p>
            <a:pPr algn="ctr"/>
            <a:r>
              <a:rPr sz="2200" b="1" spc="200">
                <a:solidFill>
                  <a:srgbClr val="FFE082"/>
                </a:solidFill>
                <a:latin typeface="Chalkboard SE"/>
              </a:rPr>
              <a:t>Pour Over</a:t>
            </a:r>
          </a:p>
        </p:txBody>
      </p:sp>
      <p:sp>
        <p:nvSpPr>
          <p:cNvPr id="9" name="Rounded Rectangle 8"/>
          <p:cNvSpPr/>
          <p:nvPr/>
        </p:nvSpPr>
        <p:spPr>
          <a:xfrm>
            <a:off x="957200" y="4250000"/>
            <a:ext cx="1200000" cy="300000"/>
          </a:xfrm>
          <a:prstGeom prst="roundRect">
            <a:avLst>
              <a:gd name="adj" fmla="val 50000"/>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7200" y="4280000"/>
            <a:ext cx="1200000" cy="250000"/>
          </a:xfrm>
          <a:prstGeom prst="rect">
            <a:avLst/>
          </a:prstGeom>
          <a:noFill/>
        </p:spPr>
        <p:txBody>
          <a:bodyPr wrap="square">
            <a:spAutoFit/>
          </a:bodyPr>
          <a:lstStyle/>
          <a:p>
            <a:pPr algn="ctr"/>
            <a:r>
              <a:rPr sz="1600" b="1">
                <a:solidFill>
                  <a:srgbClr val="FFFFFF"/>
                </a:solidFill>
                <a:latin typeface="Avenir Next"/>
              </a:rPr>
              <a:t>3-4 min</a:t>
            </a:r>
          </a:p>
        </p:txBody>
      </p:sp>
      <p:sp>
        <p:nvSpPr>
          <p:cNvPr id="11" name="TextBox 10"/>
          <p:cNvSpPr txBox="1"/>
          <p:nvPr/>
        </p:nvSpPr>
        <p:spPr>
          <a:xfrm>
            <a:off x="607200" y="4650000"/>
            <a:ext cx="1900000" cy="1800000"/>
          </a:xfrm>
          <a:prstGeom prst="rect">
            <a:avLst/>
          </a:prstGeom>
          <a:noFill/>
        </p:spPr>
        <p:txBody>
          <a:bodyPr wrap="square">
            <a:spAutoFit/>
          </a:bodyPr>
          <a:lstStyle/>
          <a:p>
            <a:pPr algn="ctr"/>
            <a:r>
              <a:rPr sz="1500" b="0">
                <a:solidFill>
                  <a:srgbClr val="FFF5E6"/>
                </a:solidFill>
                <a:latin typeface="Avenir Next"/>
              </a:rPr>
              <a:t>Clean, bright, nuanced. Highlights single-origin character.</a:t>
            </a:r>
          </a:p>
        </p:txBody>
      </p:sp>
      <p:sp>
        <p:nvSpPr>
          <p:cNvPr id="12" name="Rounded Rectangle 11"/>
          <p:cNvSpPr/>
          <p:nvPr/>
        </p:nvSpPr>
        <p:spPr>
          <a:xfrm>
            <a:off x="3483066" y="3700000"/>
            <a:ext cx="2200000" cy="2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33066" y="3760000"/>
            <a:ext cx="1900000" cy="28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3066" y="3850000"/>
            <a:ext cx="1900000" cy="320000"/>
          </a:xfrm>
          <a:prstGeom prst="rect">
            <a:avLst/>
          </a:prstGeom>
          <a:noFill/>
        </p:spPr>
        <p:txBody>
          <a:bodyPr wrap="square">
            <a:spAutoFit/>
          </a:bodyPr>
          <a:lstStyle/>
          <a:p>
            <a:pPr algn="ctr"/>
            <a:r>
              <a:rPr sz="2200" b="1" spc="200">
                <a:solidFill>
                  <a:srgbClr val="FFE082"/>
                </a:solidFill>
                <a:latin typeface="Chalkboard SE"/>
              </a:rPr>
              <a:t>Espresso</a:t>
            </a:r>
          </a:p>
        </p:txBody>
      </p:sp>
      <p:sp>
        <p:nvSpPr>
          <p:cNvPr id="15" name="Rounded Rectangle 14"/>
          <p:cNvSpPr/>
          <p:nvPr/>
        </p:nvSpPr>
        <p:spPr>
          <a:xfrm>
            <a:off x="3983066" y="4250000"/>
            <a:ext cx="1200000" cy="300000"/>
          </a:xfrm>
          <a:prstGeom prst="roundRect">
            <a:avLst>
              <a:gd name="adj" fmla="val 50000"/>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983066" y="4280000"/>
            <a:ext cx="1200000" cy="250000"/>
          </a:xfrm>
          <a:prstGeom prst="rect">
            <a:avLst/>
          </a:prstGeom>
          <a:noFill/>
        </p:spPr>
        <p:txBody>
          <a:bodyPr wrap="square">
            <a:spAutoFit/>
          </a:bodyPr>
          <a:lstStyle/>
          <a:p>
            <a:pPr algn="ctr"/>
            <a:r>
              <a:rPr sz="1600" b="1">
                <a:solidFill>
                  <a:srgbClr val="FFFFFF"/>
                </a:solidFill>
                <a:latin typeface="Avenir Next"/>
              </a:rPr>
              <a:t>25-30 sec</a:t>
            </a:r>
          </a:p>
        </p:txBody>
      </p:sp>
      <p:sp>
        <p:nvSpPr>
          <p:cNvPr id="17" name="TextBox 16"/>
          <p:cNvSpPr txBox="1"/>
          <p:nvPr/>
        </p:nvSpPr>
        <p:spPr>
          <a:xfrm>
            <a:off x="3633066" y="4650000"/>
            <a:ext cx="1900000" cy="1800000"/>
          </a:xfrm>
          <a:prstGeom prst="rect">
            <a:avLst/>
          </a:prstGeom>
          <a:noFill/>
        </p:spPr>
        <p:txBody>
          <a:bodyPr wrap="square">
            <a:spAutoFit/>
          </a:bodyPr>
          <a:lstStyle/>
          <a:p>
            <a:pPr algn="ctr"/>
            <a:r>
              <a:rPr sz="1500" b="0">
                <a:solidFill>
                  <a:srgbClr val="FFF5E6"/>
                </a:solidFill>
                <a:latin typeface="Avenir Next"/>
              </a:rPr>
              <a:t>Concentrated, bold, crema-topped. The soul of Italian coffee.</a:t>
            </a:r>
          </a:p>
        </p:txBody>
      </p:sp>
      <p:sp>
        <p:nvSpPr>
          <p:cNvPr id="18" name="Rounded Rectangle 17"/>
          <p:cNvSpPr/>
          <p:nvPr/>
        </p:nvSpPr>
        <p:spPr>
          <a:xfrm>
            <a:off x="6508933" y="3700000"/>
            <a:ext cx="2200000" cy="2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658933" y="3760000"/>
            <a:ext cx="1900000" cy="28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58933" y="3850000"/>
            <a:ext cx="1900000" cy="320000"/>
          </a:xfrm>
          <a:prstGeom prst="rect">
            <a:avLst/>
          </a:prstGeom>
          <a:noFill/>
        </p:spPr>
        <p:txBody>
          <a:bodyPr wrap="square">
            <a:spAutoFit/>
          </a:bodyPr>
          <a:lstStyle/>
          <a:p>
            <a:pPr algn="ctr"/>
            <a:r>
              <a:rPr sz="2200" b="1" spc="200">
                <a:solidFill>
                  <a:srgbClr val="FFE082"/>
                </a:solidFill>
                <a:latin typeface="Chalkboard SE"/>
              </a:rPr>
              <a:t>French Press</a:t>
            </a:r>
          </a:p>
        </p:txBody>
      </p:sp>
      <p:sp>
        <p:nvSpPr>
          <p:cNvPr id="21" name="Rounded Rectangle 20"/>
          <p:cNvSpPr/>
          <p:nvPr/>
        </p:nvSpPr>
        <p:spPr>
          <a:xfrm>
            <a:off x="7008933" y="4250000"/>
            <a:ext cx="1200000" cy="300000"/>
          </a:xfrm>
          <a:prstGeom prst="roundRect">
            <a:avLst>
              <a:gd name="adj" fmla="val 50000"/>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8933" y="4280000"/>
            <a:ext cx="1200000" cy="250000"/>
          </a:xfrm>
          <a:prstGeom prst="rect">
            <a:avLst/>
          </a:prstGeom>
          <a:noFill/>
        </p:spPr>
        <p:txBody>
          <a:bodyPr wrap="square">
            <a:spAutoFit/>
          </a:bodyPr>
          <a:lstStyle/>
          <a:p>
            <a:pPr algn="ctr"/>
            <a:r>
              <a:rPr sz="1600" b="1">
                <a:solidFill>
                  <a:srgbClr val="FFFFFF"/>
                </a:solidFill>
                <a:latin typeface="Avenir Next"/>
              </a:rPr>
              <a:t>4-5 min</a:t>
            </a:r>
          </a:p>
        </p:txBody>
      </p:sp>
      <p:sp>
        <p:nvSpPr>
          <p:cNvPr id="23" name="TextBox 22"/>
          <p:cNvSpPr txBox="1"/>
          <p:nvPr/>
        </p:nvSpPr>
        <p:spPr>
          <a:xfrm>
            <a:off x="6658933" y="4650000"/>
            <a:ext cx="1900000" cy="1800000"/>
          </a:xfrm>
          <a:prstGeom prst="rect">
            <a:avLst/>
          </a:prstGeom>
          <a:noFill/>
        </p:spPr>
        <p:txBody>
          <a:bodyPr wrap="square">
            <a:spAutoFit/>
          </a:bodyPr>
          <a:lstStyle/>
          <a:p>
            <a:pPr algn="ctr"/>
            <a:r>
              <a:rPr sz="1500" b="0">
                <a:solidFill>
                  <a:srgbClr val="FFF5E6"/>
                </a:solidFill>
                <a:latin typeface="Avenir Next"/>
              </a:rPr>
              <a:t>Full-bodied, rich, oily. Retains natural coffee oils.</a:t>
            </a:r>
          </a:p>
        </p:txBody>
      </p:sp>
      <p:sp>
        <p:nvSpPr>
          <p:cNvPr id="24" name="Rounded Rectangle 23"/>
          <p:cNvSpPr/>
          <p:nvPr/>
        </p:nvSpPr>
        <p:spPr>
          <a:xfrm>
            <a:off x="9534800" y="3700000"/>
            <a:ext cx="2200000" cy="2800000"/>
          </a:xfrm>
          <a:prstGeom prst="roundRect">
            <a:avLst>
              <a:gd name="adj" fmla="val 10000"/>
            </a:avLst>
          </a:prstGeom>
          <a:solidFill>
            <a:srgbClr val="4A3A2E">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684800" y="3760000"/>
            <a:ext cx="1900000" cy="28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84800" y="3850000"/>
            <a:ext cx="1900000" cy="320000"/>
          </a:xfrm>
          <a:prstGeom prst="rect">
            <a:avLst/>
          </a:prstGeom>
          <a:noFill/>
        </p:spPr>
        <p:txBody>
          <a:bodyPr wrap="square">
            <a:spAutoFit/>
          </a:bodyPr>
          <a:lstStyle/>
          <a:p>
            <a:pPr algn="ctr"/>
            <a:r>
              <a:rPr sz="2200" b="1" spc="200">
                <a:solidFill>
                  <a:srgbClr val="FFE082"/>
                </a:solidFill>
                <a:latin typeface="Chalkboard SE"/>
              </a:rPr>
              <a:t>Cold Brew</a:t>
            </a:r>
          </a:p>
        </p:txBody>
      </p:sp>
      <p:sp>
        <p:nvSpPr>
          <p:cNvPr id="27" name="Rounded Rectangle 26"/>
          <p:cNvSpPr/>
          <p:nvPr/>
        </p:nvSpPr>
        <p:spPr>
          <a:xfrm>
            <a:off x="10034800" y="4250000"/>
            <a:ext cx="1200000" cy="300000"/>
          </a:xfrm>
          <a:prstGeom prst="roundRect">
            <a:avLst>
              <a:gd name="adj" fmla="val 50000"/>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34800" y="4280000"/>
            <a:ext cx="1200000" cy="250000"/>
          </a:xfrm>
          <a:prstGeom prst="rect">
            <a:avLst/>
          </a:prstGeom>
          <a:noFill/>
        </p:spPr>
        <p:txBody>
          <a:bodyPr wrap="square">
            <a:spAutoFit/>
          </a:bodyPr>
          <a:lstStyle/>
          <a:p>
            <a:pPr algn="ctr"/>
            <a:r>
              <a:rPr sz="1600" b="1">
                <a:solidFill>
                  <a:srgbClr val="FFFFFF"/>
                </a:solidFill>
                <a:latin typeface="Avenir Next"/>
              </a:rPr>
              <a:t>12-24 hr</a:t>
            </a:r>
          </a:p>
        </p:txBody>
      </p:sp>
      <p:sp>
        <p:nvSpPr>
          <p:cNvPr id="29" name="TextBox 28"/>
          <p:cNvSpPr txBox="1"/>
          <p:nvPr/>
        </p:nvSpPr>
        <p:spPr>
          <a:xfrm>
            <a:off x="9684800" y="4650000"/>
            <a:ext cx="1900000" cy="1800000"/>
          </a:xfrm>
          <a:prstGeom prst="rect">
            <a:avLst/>
          </a:prstGeom>
          <a:noFill/>
        </p:spPr>
        <p:txBody>
          <a:bodyPr wrap="square">
            <a:spAutoFit/>
          </a:bodyPr>
          <a:lstStyle/>
          <a:p>
            <a:pPr algn="ctr"/>
            <a:r>
              <a:rPr sz="1500" b="0">
                <a:solidFill>
                  <a:srgbClr val="FFF5E6"/>
                </a:solidFill>
                <a:latin typeface="Avenir Next"/>
              </a:rPr>
              <a:t>Smooth, sweet, low-acid. Steeped cold for mellow flavor.</a:t>
            </a:r>
          </a:p>
        </p:txBody>
      </p:sp>
      <p:sp>
        <p:nvSpPr>
          <p:cNvPr id="30" name="TextBox 29"/>
          <p:cNvSpPr txBox="1"/>
          <p:nvPr/>
        </p:nvSpPr>
        <p:spPr>
          <a:xfrm>
            <a:off x="11092000" y="6358000"/>
            <a:ext cx="700000" cy="300000"/>
          </a:xfrm>
          <a:prstGeom prst="rect">
            <a:avLst/>
          </a:prstGeom>
          <a:noFill/>
        </p:spPr>
        <p:txBody>
          <a:bodyPr wrap="square">
            <a:spAutoFit/>
          </a:bodyPr>
          <a:lstStyle/>
          <a:p>
            <a:pPr algn="r"/>
            <a:r>
              <a:rPr sz="1400" b="0">
                <a:solidFill>
                  <a:srgbClr val="B8A090"/>
                </a:solidFill>
                <a:latin typeface="Avenir Next"/>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closing_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346000" y="2000000"/>
            <a:ext cx="1500000" cy="1000000"/>
          </a:xfrm>
          <a:prstGeom prst="rect">
            <a:avLst/>
          </a:prstGeom>
          <a:noFill/>
        </p:spPr>
        <p:txBody>
          <a:bodyPr wrap="none">
            <a:spAutoFit/>
          </a:bodyPr>
          <a:lstStyle/>
          <a:p>
            <a:pPr algn="ctr"/>
            <a:r>
              <a:rPr sz="12000">
                <a:solidFill>
                  <a:srgbClr val="E07A5F"/>
                </a:solidFill>
                <a:latin typeface="Chalkboard SE"/>
              </a:rPr>
              <a:t>“</a:t>
            </a:r>
          </a:p>
        </p:txBody>
      </p:sp>
      <p:sp>
        <p:nvSpPr>
          <p:cNvPr id="4" name="TextBox 3"/>
          <p:cNvSpPr txBox="1"/>
          <p:nvPr/>
        </p:nvSpPr>
        <p:spPr>
          <a:xfrm>
            <a:off x="1524000" y="2900000"/>
            <a:ext cx="9144000" cy="1200000"/>
          </a:xfrm>
          <a:prstGeom prst="rect">
            <a:avLst/>
          </a:prstGeom>
          <a:noFill/>
        </p:spPr>
        <p:txBody>
          <a:bodyPr wrap="square">
            <a:spAutoFit/>
          </a:bodyPr>
          <a:lstStyle/>
          <a:p>
            <a:pPr algn="ctr">
              <a:lnSpc>
                <a:spcPts val="3800"/>
              </a:lnSpc>
            </a:pPr>
            <a:r>
              <a:rPr sz="2400" i="1">
                <a:solidFill>
                  <a:srgbClr val="FFFFFF"/>
                </a:solidFill>
                <a:latin typeface="Chalkboard SE"/>
              </a:rPr>
              <a:t>Every cup tells a story — of the soil it grew in,
the hands that picked it, and the moment you savor it.</a:t>
            </a:r>
          </a:p>
        </p:txBody>
      </p:sp>
      <p:sp>
        <p:nvSpPr>
          <p:cNvPr id="5" name="Rectangle 4"/>
          <p:cNvSpPr/>
          <p:nvPr/>
        </p:nvSpPr>
        <p:spPr>
          <a:xfrm>
            <a:off x="5196000" y="4300000"/>
            <a:ext cx="1800000" cy="2800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33600" y="4500000"/>
            <a:ext cx="7924800" cy="338554"/>
          </a:xfrm>
          <a:prstGeom prst="rect">
            <a:avLst/>
          </a:prstGeom>
          <a:noFill/>
        </p:spPr>
        <p:txBody>
          <a:bodyPr wrap="square">
            <a:spAutoFit/>
          </a:bodyPr>
          <a:lstStyle/>
          <a:p>
            <a:pPr algn="r"/>
            <a:r>
              <a:rPr sz="1600" b="0">
                <a:solidFill>
                  <a:schemeClr val="bg1"/>
                </a:solidFill>
                <a:latin typeface="Avenir Next"/>
              </a:rPr>
              <a:t>— The World of Coffee</a:t>
            </a:r>
          </a:p>
        </p:txBody>
      </p:sp>
      <p:sp>
        <p:nvSpPr>
          <p:cNvPr id="7" name="TextBox 6"/>
          <p:cNvSpPr txBox="1"/>
          <p:nvPr/>
        </p:nvSpPr>
        <p:spPr>
          <a:xfrm>
            <a:off x="3096000" y="5600000"/>
            <a:ext cx="6000000" cy="500000"/>
          </a:xfrm>
          <a:prstGeom prst="rect">
            <a:avLst/>
          </a:prstGeom>
          <a:noFill/>
        </p:spPr>
        <p:txBody>
          <a:bodyPr wrap="square">
            <a:spAutoFit/>
          </a:bodyPr>
          <a:lstStyle/>
          <a:p>
            <a:pPr algn="ctr"/>
            <a:r>
              <a:rPr sz="1800" b="0">
                <a:solidFill>
                  <a:srgbClr val="FFE082"/>
                </a:solidFill>
                <a:latin typeface="Avenir Next"/>
              </a:rPr>
              <a:t>From bean to cup, every sip is a journey.</a:t>
            </a:r>
          </a:p>
        </p:txBody>
      </p:sp>
      <p:sp>
        <p:nvSpPr>
          <p:cNvPr id="8" name="TextBox 7"/>
          <p:cNvSpPr txBox="1"/>
          <p:nvPr/>
        </p:nvSpPr>
        <p:spPr>
          <a:xfrm>
            <a:off x="11092000" y="6358000"/>
            <a:ext cx="700000" cy="300000"/>
          </a:xfrm>
          <a:prstGeom prst="rect">
            <a:avLst/>
          </a:prstGeom>
          <a:noFill/>
        </p:spPr>
        <p:txBody>
          <a:bodyPr wrap="square">
            <a:spAutoFit/>
          </a:bodyPr>
          <a:lstStyle/>
          <a:p>
            <a:pPr algn="r"/>
            <a:r>
              <a:rPr sz="1400" b="0">
                <a:solidFill>
                  <a:srgbClr val="B8A090"/>
                </a:solidFill>
                <a:latin typeface="Avenir Next"/>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307</Words>
  <Application>Microsoft Macintosh PowerPoint</Application>
  <PresentationFormat>Widescreen</PresentationFormat>
  <Paragraphs>58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Avenir Next</vt:lpstr>
      <vt:lpstr>Calibri</vt:lpstr>
      <vt:lpstr>Chalkboard SE</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wz yao</cp:lastModifiedBy>
  <cp:revision>2</cp:revision>
  <dcterms:created xsi:type="dcterms:W3CDTF">2013-01-27T09:14:16Z</dcterms:created>
  <dcterms:modified xsi:type="dcterms:W3CDTF">2026-03-13T18:00:07Z</dcterms:modified>
  <cp:category/>
</cp:coreProperties>
</file>