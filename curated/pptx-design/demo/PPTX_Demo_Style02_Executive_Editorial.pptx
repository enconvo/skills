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71500"/>
            <a:ext cx="10363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00000"/>
            <a:ext cx="103632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C8102E"/>
                </a:solidFill>
                <a:latin typeface="Rockwell"/>
              </a:rPr>
              <a:t>The K-Beauty
Revolution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00000"/>
            <a:ext cx="3200000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333333"/>
                </a:solidFill>
                <a:latin typeface="Georgia"/>
              </a:rPr>
              <a:t>How Korea Redefined Skincare for the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100000"/>
            <a:ext cx="10363200" cy="18288"/>
          </a:xfrm>
          <a:prstGeom prst="rect">
            <a:avLst/>
          </a:prstGeom>
          <a:solidFill>
            <a:srgbClr val="B8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200000"/>
            <a:ext cx="5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Market Analysis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6200000"/>
            <a:ext cx="4277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0" i="0">
                <a:solidFill>
                  <a:srgbClr val="8C8279"/>
                </a:solidFill>
                <a:latin typeface="Georgia"/>
              </a:rPr>
              <a:t>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28600"/>
            <a:ext cx="11050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50000"/>
            <a:ext cx="11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The 10-Step Routine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00000"/>
            <a:ext cx="2200000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050000"/>
            <a:ext cx="57150" cy="50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1050000"/>
            <a:ext cx="10992850" cy="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00" y="1150000"/>
            <a:ext cx="107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33333"/>
                </a:solidFill>
                <a:latin typeface="Georgia"/>
              </a:rPr>
              <a:t>92% of Korean women follow a multi-step skincare routine — compared to just 35% in the United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750000"/>
            <a:ext cx="53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C8102E"/>
                </a:solidFill>
                <a:latin typeface="Rockwell"/>
              </a:rPr>
              <a:t>MORNING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130000"/>
            <a:ext cx="1200000" cy="182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230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1.  </a:t>
            </a:r>
            <a:r>
              <a:rPr sz="1500">
                <a:solidFill>
                  <a:srgbClr val="333333"/>
                </a:solidFill>
                <a:latin typeface="Georgia"/>
              </a:rPr>
              <a:t>Oil Cleanser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64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2.  </a:t>
            </a:r>
            <a:r>
              <a:rPr sz="1500">
                <a:solidFill>
                  <a:srgbClr val="333333"/>
                </a:solidFill>
                <a:latin typeface="Georgia"/>
              </a:rPr>
              <a:t>Water Cleanser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98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3.  </a:t>
            </a:r>
            <a:r>
              <a:rPr sz="1500">
                <a:solidFill>
                  <a:srgbClr val="333333"/>
                </a:solidFill>
                <a:latin typeface="Georgia"/>
              </a:rPr>
              <a:t>Toner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32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4.  </a:t>
            </a:r>
            <a:r>
              <a:rPr sz="1500">
                <a:solidFill>
                  <a:srgbClr val="333333"/>
                </a:solidFill>
                <a:latin typeface="Georgia"/>
              </a:rPr>
              <a:t>Essence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66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5.  </a:t>
            </a:r>
            <a:r>
              <a:rPr sz="1500">
                <a:solidFill>
                  <a:srgbClr val="333333"/>
                </a:solidFill>
                <a:latin typeface="Georgia"/>
              </a:rPr>
              <a:t>Serum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00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6.  </a:t>
            </a:r>
            <a:r>
              <a:rPr sz="1500">
                <a:solidFill>
                  <a:srgbClr val="333333"/>
                </a:solidFill>
                <a:latin typeface="Georgia"/>
              </a:rPr>
              <a:t>Eye Cream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34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7.  </a:t>
            </a:r>
            <a:r>
              <a:rPr sz="1500">
                <a:solidFill>
                  <a:srgbClr val="333333"/>
                </a:solidFill>
                <a:latin typeface="Georgia"/>
              </a:rPr>
              <a:t>Moisturizer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68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8.  </a:t>
            </a:r>
            <a:r>
              <a:rPr sz="1500">
                <a:solidFill>
                  <a:srgbClr val="333333"/>
                </a:solidFill>
                <a:latin typeface="Georgia"/>
              </a:rPr>
              <a:t>SPF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500" y="1750000"/>
            <a:ext cx="18288" cy="4800000"/>
          </a:xfrm>
          <a:prstGeom prst="rect">
            <a:avLst/>
          </a:prstGeom>
          <a:solidFill>
            <a:srgbClr val="B8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1500" y="1750000"/>
            <a:ext cx="53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C8102E"/>
                </a:solidFill>
                <a:latin typeface="Rockwell"/>
              </a:rPr>
              <a:t>NIGHT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1500" y="2130000"/>
            <a:ext cx="1000000" cy="182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1500" y="230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1.  </a:t>
            </a:r>
            <a:r>
              <a:rPr sz="1500">
                <a:solidFill>
                  <a:srgbClr val="333333"/>
                </a:solidFill>
                <a:latin typeface="Georgia"/>
              </a:rPr>
              <a:t>Double Cleanse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1500" y="264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2.  </a:t>
            </a:r>
            <a:r>
              <a:rPr sz="1500">
                <a:solidFill>
                  <a:srgbClr val="333333"/>
                </a:solidFill>
                <a:latin typeface="Georgia"/>
              </a:rPr>
              <a:t>Exfoliant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1500" y="298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3.  </a:t>
            </a:r>
            <a:r>
              <a:rPr sz="1500">
                <a:solidFill>
                  <a:srgbClr val="333333"/>
                </a:solidFill>
                <a:latin typeface="Georgia"/>
              </a:rPr>
              <a:t>Toner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1500" y="332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4.  </a:t>
            </a:r>
            <a:r>
              <a:rPr sz="1500">
                <a:solidFill>
                  <a:srgbClr val="333333"/>
                </a:solidFill>
                <a:latin typeface="Georgia"/>
              </a:rPr>
              <a:t>Essence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1500" y="366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5.  </a:t>
            </a:r>
            <a:r>
              <a:rPr sz="1500">
                <a:solidFill>
                  <a:srgbClr val="333333"/>
                </a:solidFill>
                <a:latin typeface="Georgia"/>
              </a:rPr>
              <a:t>Ampoule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1500" y="400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6.  </a:t>
            </a:r>
            <a:r>
              <a:rPr sz="1500">
                <a:solidFill>
                  <a:srgbClr val="333333"/>
                </a:solidFill>
                <a:latin typeface="Georgia"/>
              </a:rPr>
              <a:t>Sheet 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1500" y="434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7.  </a:t>
            </a:r>
            <a:r>
              <a:rPr sz="1500">
                <a:solidFill>
                  <a:srgbClr val="333333"/>
                </a:solidFill>
                <a:latin typeface="Georgia"/>
              </a:rPr>
              <a:t>Eye Cream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1500" y="4680000"/>
            <a:ext cx="53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33333"/>
                </a:solidFill>
                <a:latin typeface="Georgia"/>
              </a:rPr>
              <a:t/>
            </a:r>
            <a:r>
              <a:rPr sz="1500" b="1">
                <a:solidFill>
                  <a:srgbClr val="C8102E"/>
                </a:solidFill>
                <a:latin typeface="Georgia"/>
              </a:rPr>
              <a:t>8.  </a:t>
            </a:r>
            <a:r>
              <a:rPr sz="1500">
                <a:solidFill>
                  <a:srgbClr val="333333"/>
                </a:solidFill>
                <a:latin typeface="Georgia"/>
              </a:rPr>
              <a:t>Night Cream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28600"/>
            <a:ext cx="11050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50000"/>
            <a:ext cx="11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Hero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00000"/>
            <a:ext cx="2200000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150000"/>
          <a:ext cx="1105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3500000"/>
                <a:gridCol w="6950000"/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>
                    <a:solidFill>
                      <a:srgbClr val="C8102E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Ingredient</a:t>
                      </a:r>
                    </a:p>
                  </a:txBody>
                  <a:tcPr>
                    <a:solidFill>
                      <a:srgbClr val="C8102E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Georgia"/>
                        </a:rPr>
                        <a:t>Benefit</a:t>
                      </a:r>
                    </a:p>
                  </a:txBody>
                  <a:tcPr>
                    <a:solidFill>
                      <a:srgbClr val="C8102E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102E"/>
                          </a:solidFill>
                          <a:latin typeface="Georgia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Snail Mucin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Deep hydration + cellular repair — the signature K-Beauty ingredient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102E"/>
                          </a:solidFill>
                          <a:latin typeface="Georgia"/>
                        </a:rPr>
                        <a:t>02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Niacinamide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Brightening + pore refinement — a versatile workhorse in every routine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102E"/>
                          </a:solidFill>
                          <a:latin typeface="Georgia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Centella Asiatica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Calming + anti-inflammatory — ideal for sensitive and acne-prone skin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102E"/>
                          </a:solidFill>
                          <a:latin typeface="Georgia"/>
                        </a:rPr>
                        <a:t>04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Rice Extract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Even skin tone + natural radiance — used in Korean beauty for centuries</a:t>
                      </a:r>
                    </a:p>
                  </a:txBody>
                  <a:tcPr>
                    <a:solidFill>
                      <a:srgbClr val="F5F0E8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8102E"/>
                          </a:solidFill>
                          <a:latin typeface="Georgia"/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Propolis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</a:rPr>
                        <a:t>Antibacterial + luminous glow — bee-derived powerhouse ingredient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B8B0A8"/>
                      </a:solidFill>
                    </a:lnL>
                    <a:lnR w="6350">
                      <a:solidFill>
                        <a:srgbClr val="B8B0A8"/>
                      </a:solidFill>
                    </a:lnR>
                    <a:lnT w="6350">
                      <a:solidFill>
                        <a:srgbClr val="B8B0A8"/>
                      </a:solidFill>
                    </a:lnT>
                    <a:lnB w="6350">
                      <a:solidFill>
                        <a:srgbClr val="B8B0A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5150000"/>
            <a:ext cx="57150" cy="60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5150000"/>
            <a:ext cx="1099285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500" y="5250000"/>
            <a:ext cx="107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333333"/>
                </a:solidFill>
                <a:latin typeface="Georgia"/>
              </a:rPr>
              <a:t>Global K-Beauty market hit $13.2B in 2025, projected to reach $21.8B by 2030 — a 65% growth trajectory.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8B0A8"/>
                </a:solidFill>
                <a:latin typeface="Georgia"/>
              </a:rPr>
              <a:t>Source: Statista, Grand View Research,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28600"/>
            <a:ext cx="11050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50000"/>
            <a:ext cx="11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Global Impact 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900000"/>
            <a:ext cx="2600000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150000"/>
            <a:ext cx="57150" cy="85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1150000"/>
            <a:ext cx="1099305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1250000"/>
            <a:ext cx="2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$13.2B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2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33333"/>
                </a:solidFill>
                <a:latin typeface="Rockwell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0" y="1600000"/>
            <a:ext cx="8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South Korea's beauty market with 2,800+ active brands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150000"/>
            <a:ext cx="57150" cy="85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2150000"/>
            <a:ext cx="1099305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250000"/>
            <a:ext cx="2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400%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0" y="22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33333"/>
                </a:solidFill>
                <a:latin typeface="Rockwell"/>
              </a:rPr>
              <a:t>US Import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2600000"/>
            <a:ext cx="8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Increase in K-Beauty imports since 2015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150000"/>
            <a:ext cx="57150" cy="85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650" y="3150000"/>
            <a:ext cx="1099305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00" y="3250000"/>
            <a:ext cx="2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48B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32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33333"/>
                </a:solidFill>
                <a:latin typeface="Rockwell"/>
              </a:rPr>
              <a:t>TikTok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0000" y="3600000"/>
            <a:ext cx="8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#KBeauty hashtag reach across global audiences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150000"/>
            <a:ext cx="57150" cy="85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650" y="4150000"/>
            <a:ext cx="1099305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4250000"/>
            <a:ext cx="2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$230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0000" y="42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33333"/>
                </a:solidFill>
                <a:latin typeface="Rockwell"/>
              </a:rPr>
              <a:t>Annual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0000" y="4600000"/>
            <a:ext cx="8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Per capita skincare spending in Korea vs $110 in 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150000"/>
            <a:ext cx="57150" cy="85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650" y="5150000"/>
            <a:ext cx="10993050" cy="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000" y="5250000"/>
            <a:ext cx="2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C8102E"/>
                </a:solidFill>
                <a:latin typeface="Rockwel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0" y="52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333333"/>
                </a:solidFill>
                <a:latin typeface="Rockwell"/>
              </a:rPr>
              <a:t>Top 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0000" y="5600000"/>
            <a:ext cx="8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China, United States, Japan, and Southeast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3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8B0A8"/>
                </a:solidFill>
                <a:latin typeface="Georgia"/>
              </a:rPr>
              <a:t>Source: Statista, Korea Customs Service, TikTok Analytics,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71500"/>
            <a:ext cx="10363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00000"/>
            <a:ext cx="103632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C8102E"/>
                </a:solidFill>
                <a:latin typeface="Rockwell"/>
              </a:rPr>
              <a:t>Your Skin,
Your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000000"/>
            <a:ext cx="3200000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333333"/>
                </a:solidFill>
                <a:latin typeface="Georgia"/>
              </a:rPr>
              <a:t>The future of beauty is personal, science-driven, and inclusive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100000"/>
            <a:ext cx="10363200" cy="18288"/>
          </a:xfrm>
          <a:prstGeom prst="rect">
            <a:avLst/>
          </a:prstGeom>
          <a:solidFill>
            <a:srgbClr val="B8B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200000"/>
            <a:ext cx="5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C8279"/>
                </a:solidFill>
                <a:latin typeface="Georgia"/>
              </a:rPr>
              <a:t>K-Beauty Market Analysis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6200000"/>
            <a:ext cx="42776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0" i="0">
                <a:solidFill>
                  <a:srgbClr val="8C8279"/>
                </a:solidFill>
                <a:latin typeface="Georgia"/>
              </a:rPr>
              <a:t>Executive Briefing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