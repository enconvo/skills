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00000"/>
            <a:ext cx="103632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1D1D1F"/>
                </a:solidFill>
                <a:latin typeface="Calibri"/>
              </a:rPr>
              <a:t>The K-Beauty Revolution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00000"/>
            <a:ext cx="28000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000"/>
            <a:ext cx="103632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6E6E73"/>
                </a:solidFill>
                <a:latin typeface="Calibri"/>
              </a:rPr>
              <a:t>How Korea Redefined Skincare for the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300000"/>
            <a:ext cx="10363200" cy="18288"/>
          </a:xfrm>
          <a:prstGeom prst="rect">
            <a:avLst/>
          </a:prstGeom>
          <a:solidFill>
            <a:srgbClr val="D1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00000"/>
            <a:ext cx="103632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Market Analysis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D1D1F"/>
                </a:solidFill>
                <a:latin typeface="Calibri"/>
              </a:rPr>
              <a:t>The 10-Step Routine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680000"/>
            <a:ext cx="22000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900000"/>
            <a:ext cx="11050000" cy="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0000" y="980000"/>
            <a:ext cx="10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2000" b="1">
                <a:solidFill>
                  <a:srgbClr val="0071E3"/>
                </a:solidFill>
                <a:latin typeface="Calibri"/>
              </a:rPr>
              <a:t>92%</a:t>
            </a:r>
            <a:r>
              <a:rPr sz="1400">
                <a:solidFill>
                  <a:srgbClr val="1D1D1F"/>
                </a:solidFill>
                <a:latin typeface="Calibri"/>
              </a:rPr>
              <a:t> of Korean women follow a multi-step routine vs </a:t>
            </a:r>
            <a:r>
              <a:rPr sz="2000" b="1">
                <a:solidFill>
                  <a:srgbClr val="0071E3"/>
                </a:solidFill>
                <a:latin typeface="Calibri"/>
              </a:rPr>
              <a:t>35%</a:t>
            </a:r>
            <a:r>
              <a:rPr sz="1400">
                <a:solidFill>
                  <a:srgbClr val="1D1D1F"/>
                </a:solidFill>
                <a:latin typeface="Calibri"/>
              </a:rPr>
              <a:t> in the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600000"/>
            <a:ext cx="5350000" cy="50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1500" y="1600000"/>
            <a:ext cx="5350000" cy="420000"/>
          </a:xfrm>
          <a:prstGeom prst="roundRect">
            <a:avLst>
              <a:gd name="adj" fmla="val 4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1800000"/>
            <a:ext cx="5350000" cy="220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500" y="1640000"/>
            <a:ext cx="49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MORNING ROUTINE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500" y="2150000"/>
            <a:ext cx="5250000" cy="34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500" y="220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01  </a:t>
            </a:r>
            <a:r>
              <a:rPr sz="1400">
                <a:solidFill>
                  <a:srgbClr val="1D1D1F"/>
                </a:solidFill>
                <a:latin typeface="Calibri"/>
              </a:rPr>
              <a:t>Oil Cleanser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500" y="2490000"/>
            <a:ext cx="52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500" y="254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02  </a:t>
            </a:r>
            <a:r>
              <a:rPr sz="1400">
                <a:solidFill>
                  <a:srgbClr val="1D1D1F"/>
                </a:solidFill>
                <a:latin typeface="Calibri"/>
              </a:rPr>
              <a:t>Water Cleanser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500" y="2830000"/>
            <a:ext cx="5250000" cy="34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1500" y="288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03  </a:t>
            </a:r>
            <a:r>
              <a:rPr sz="1400">
                <a:solidFill>
                  <a:srgbClr val="1D1D1F"/>
                </a:solidFill>
                <a:latin typeface="Calibri"/>
              </a:rPr>
              <a:t>Toner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500" y="3170000"/>
            <a:ext cx="52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500" y="322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04  </a:t>
            </a:r>
            <a:r>
              <a:rPr sz="1400">
                <a:solidFill>
                  <a:srgbClr val="1D1D1F"/>
                </a:solidFill>
                <a:latin typeface="Calibri"/>
              </a:rPr>
              <a:t>Essence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500" y="3510000"/>
            <a:ext cx="5250000" cy="34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1500" y="356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05  </a:t>
            </a:r>
            <a:r>
              <a:rPr sz="1400">
                <a:solidFill>
                  <a:srgbClr val="1D1D1F"/>
                </a:solidFill>
                <a:latin typeface="Calibri"/>
              </a:rPr>
              <a:t>Serum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500" y="3850000"/>
            <a:ext cx="52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500" y="390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06  </a:t>
            </a:r>
            <a:r>
              <a:rPr sz="1400">
                <a:solidFill>
                  <a:srgbClr val="1D1D1F"/>
                </a:solidFill>
                <a:latin typeface="Calibri"/>
              </a:rPr>
              <a:t>Eye Cream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500" y="4190000"/>
            <a:ext cx="5250000" cy="34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500" y="424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07  </a:t>
            </a:r>
            <a:r>
              <a:rPr sz="1400">
                <a:solidFill>
                  <a:srgbClr val="1D1D1F"/>
                </a:solidFill>
                <a:latin typeface="Calibri"/>
              </a:rPr>
              <a:t>Moisturizer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500" y="4530000"/>
            <a:ext cx="52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500" y="458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08  </a:t>
            </a:r>
            <a:r>
              <a:rPr sz="1400">
                <a:solidFill>
                  <a:srgbClr val="1D1D1F"/>
                </a:solidFill>
                <a:latin typeface="Calibri"/>
              </a:rPr>
              <a:t>SPF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1500" y="1600000"/>
            <a:ext cx="5350000" cy="50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71500" y="1600000"/>
            <a:ext cx="5350000" cy="420000"/>
          </a:xfrm>
          <a:prstGeom prst="roundRect">
            <a:avLst>
              <a:gd name="adj" fmla="val 4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1500" y="1800000"/>
            <a:ext cx="5350000" cy="220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1500" y="1640000"/>
            <a:ext cx="49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NIGHT ROUTINE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1500" y="2150000"/>
            <a:ext cx="5250000" cy="34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1500" y="220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01  </a:t>
            </a:r>
            <a:r>
              <a:rPr sz="1400">
                <a:solidFill>
                  <a:srgbClr val="1D1D1F"/>
                </a:solidFill>
                <a:latin typeface="Calibri"/>
              </a:rPr>
              <a:t>Double Cleanse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1500" y="2490000"/>
            <a:ext cx="52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1500" y="254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02  </a:t>
            </a:r>
            <a:r>
              <a:rPr sz="1400">
                <a:solidFill>
                  <a:srgbClr val="1D1D1F"/>
                </a:solidFill>
                <a:latin typeface="Calibri"/>
              </a:rPr>
              <a:t>Exfoliant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1500" y="2830000"/>
            <a:ext cx="5250000" cy="34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1500" y="288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03  </a:t>
            </a:r>
            <a:r>
              <a:rPr sz="1400">
                <a:solidFill>
                  <a:srgbClr val="1D1D1F"/>
                </a:solidFill>
                <a:latin typeface="Calibri"/>
              </a:rPr>
              <a:t>Toner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1500" y="3170000"/>
            <a:ext cx="52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1500" y="322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04  </a:t>
            </a:r>
            <a:r>
              <a:rPr sz="1400">
                <a:solidFill>
                  <a:srgbClr val="1D1D1F"/>
                </a:solidFill>
                <a:latin typeface="Calibri"/>
              </a:rPr>
              <a:t>Essence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21500" y="3510000"/>
            <a:ext cx="5250000" cy="34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1500" y="356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05  </a:t>
            </a:r>
            <a:r>
              <a:rPr sz="1400">
                <a:solidFill>
                  <a:srgbClr val="1D1D1F"/>
                </a:solidFill>
                <a:latin typeface="Calibri"/>
              </a:rPr>
              <a:t>Ampoule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1500" y="3850000"/>
            <a:ext cx="52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1500" y="390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06  </a:t>
            </a:r>
            <a:r>
              <a:rPr sz="1400">
                <a:solidFill>
                  <a:srgbClr val="1D1D1F"/>
                </a:solidFill>
                <a:latin typeface="Calibri"/>
              </a:rPr>
              <a:t>Sheet Mask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21500" y="4190000"/>
            <a:ext cx="5250000" cy="34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1500" y="424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07  </a:t>
            </a:r>
            <a:r>
              <a:rPr sz="1400">
                <a:solidFill>
                  <a:srgbClr val="1D1D1F"/>
                </a:solidFill>
                <a:latin typeface="Calibri"/>
              </a:rPr>
              <a:t>Eye Cream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1500" y="4530000"/>
            <a:ext cx="525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1500" y="4580000"/>
            <a:ext cx="495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0071E3"/>
                </a:solidFill>
                <a:latin typeface="Calibri"/>
              </a:rPr>
              <a:t>08  </a:t>
            </a:r>
            <a:r>
              <a:rPr sz="1400">
                <a:solidFill>
                  <a:srgbClr val="1D1D1F"/>
                </a:solidFill>
                <a:latin typeface="Calibri"/>
              </a:rPr>
              <a:t>Night Cream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D1D1F"/>
                </a:solidFill>
                <a:latin typeface="Calibri"/>
              </a:rPr>
              <a:t>Hero Ingredients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680000"/>
            <a:ext cx="22000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000000"/>
          <a:ext cx="1105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/>
                <a:gridCol w="3500000"/>
                <a:gridCol w="6950000"/>
              </a:tblGrid>
              <a:tr h="6333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71E3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Ingredient</a:t>
                      </a:r>
                    </a:p>
                  </a:txBody>
                  <a:tcPr>
                    <a:solidFill>
                      <a:srgbClr val="0071E3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</a:p>
                  </a:txBody>
                  <a:tcPr>
                    <a:solidFill>
                      <a:srgbClr val="0071E3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</a:tr>
              <a:tr h="6333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1E3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>
                    <a:solidFill>
                      <a:srgbClr val="F8F9FA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1D1F"/>
                          </a:solidFill>
                          <a:latin typeface="Calibri"/>
                        </a:rPr>
                        <a:t>Snail Mucin</a:t>
                      </a:r>
                    </a:p>
                  </a:txBody>
                  <a:tcPr>
                    <a:solidFill>
                      <a:srgbClr val="F8F9FA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1D1F"/>
                          </a:solidFill>
                          <a:latin typeface="Calibri"/>
                        </a:rPr>
                        <a:t>Deep hydration + cellular repair — the signature K-Beauty ingredient</a:t>
                      </a:r>
                    </a:p>
                  </a:txBody>
                  <a:tcPr>
                    <a:solidFill>
                      <a:srgbClr val="F8F9FA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</a:tr>
              <a:tr h="6333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1E3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1D1F"/>
                          </a:solidFill>
                          <a:latin typeface="Calibri"/>
                        </a:rPr>
                        <a:t>Niacinamide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1D1F"/>
                          </a:solidFill>
                          <a:latin typeface="Calibri"/>
                        </a:rPr>
                        <a:t>Brightening + pore refinement — a versatile workhorse in every routine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</a:tr>
              <a:tr h="6333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1E3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>
                    <a:solidFill>
                      <a:srgbClr val="F8F9FA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1D1F"/>
                          </a:solidFill>
                          <a:latin typeface="Calibri"/>
                        </a:rPr>
                        <a:t>Centella Asiatica</a:t>
                      </a:r>
                    </a:p>
                  </a:txBody>
                  <a:tcPr>
                    <a:solidFill>
                      <a:srgbClr val="F8F9FA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1D1F"/>
                          </a:solidFill>
                          <a:latin typeface="Calibri"/>
                        </a:rPr>
                        <a:t>Calming + anti-inflammatory — ideal for sensitive and acne-prone skin</a:t>
                      </a:r>
                    </a:p>
                  </a:txBody>
                  <a:tcPr>
                    <a:solidFill>
                      <a:srgbClr val="F8F9FA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</a:tr>
              <a:tr h="6333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1E3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1D1F"/>
                          </a:solidFill>
                          <a:latin typeface="Calibri"/>
                        </a:rPr>
                        <a:t>Rice Extract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1D1F"/>
                          </a:solidFill>
                          <a:latin typeface="Calibri"/>
                        </a:rPr>
                        <a:t>Even skin tone + natural radiance — used in Korean beauty for centuries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</a:tr>
              <a:tr h="63333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1E3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>
                    <a:solidFill>
                      <a:srgbClr val="F8F9FA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1D1F"/>
                          </a:solidFill>
                          <a:latin typeface="Calibri"/>
                        </a:rPr>
                        <a:t>Propolis</a:t>
                      </a:r>
                    </a:p>
                  </a:txBody>
                  <a:tcPr>
                    <a:solidFill>
                      <a:srgbClr val="F8F9FA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D1D1F"/>
                          </a:solidFill>
                          <a:latin typeface="Calibri"/>
                        </a:rPr>
                        <a:t>Antibacterial + luminous glow — bee-derived powerhouse ingredient</a:t>
                      </a:r>
                    </a:p>
                  </a:txBody>
                  <a:tcPr>
                    <a:solidFill>
                      <a:srgbClr val="F8F9FA"/>
                    </a:solidFill>
                    <a:lnL w="6350">
                      <a:solidFill>
                        <a:srgbClr val="D1D1D6"/>
                      </a:solidFill>
                    </a:lnL>
                    <a:lnR w="6350">
                      <a:solidFill>
                        <a:srgbClr val="D1D1D6"/>
                      </a:solidFill>
                    </a:lnR>
                    <a:lnT w="6350">
                      <a:solidFill>
                        <a:srgbClr val="D1D1D6"/>
                      </a:solidFill>
                    </a:lnT>
                    <a:lnB w="6350">
                      <a:solidFill>
                        <a:srgbClr val="D1D1D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71500" y="5100000"/>
            <a:ext cx="11050000" cy="7000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9525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00" y="5200000"/>
            <a:ext cx="106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D1D1F"/>
                </a:solidFill>
                <a:latin typeface="Calibri"/>
              </a:rPr>
              <a:t/>
            </a:r>
            <a:r>
              <a:rPr sz="1400" b="1">
                <a:solidFill>
                  <a:srgbClr val="6E6E73"/>
                </a:solidFill>
                <a:latin typeface="Calibri"/>
              </a:rPr>
              <a:t>MARKET  |  </a:t>
            </a:r>
            <a:r>
              <a:rPr sz="2200" b="1">
                <a:solidFill>
                  <a:srgbClr val="0071E3"/>
                </a:solidFill>
                <a:latin typeface="Calibri"/>
              </a:rPr>
              <a:t>$13.2B </a:t>
            </a:r>
            <a:r>
              <a:rPr sz="1400">
                <a:solidFill>
                  <a:srgbClr val="1D1D1F"/>
                </a:solidFill>
                <a:latin typeface="Calibri"/>
              </a:rPr>
              <a:t>in 2025  →  </a:t>
            </a:r>
            <a:r>
              <a:rPr sz="2200" b="1">
                <a:solidFill>
                  <a:srgbClr val="0071E3"/>
                </a:solidFill>
                <a:latin typeface="Calibri"/>
              </a:rPr>
              <a:t>$21.8B </a:t>
            </a:r>
            <a:r>
              <a:rPr sz="1400">
                <a:solidFill>
                  <a:srgbClr val="1D1D1F"/>
                </a:solidFill>
                <a:latin typeface="Calibri"/>
              </a:rPr>
              <a:t>by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10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Source: Statista, Grand View Research,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00000"/>
            <a:ext cx="11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D1D1F"/>
                </a:solidFill>
                <a:latin typeface="Calibri"/>
              </a:rPr>
              <a:t>Global Impact 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680000"/>
            <a:ext cx="26000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000000"/>
            <a:ext cx="3467100" cy="2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000000"/>
            <a:ext cx="34671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500" y="1200000"/>
            <a:ext cx="29671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71E3"/>
                </a:solidFill>
                <a:latin typeface="Calibri"/>
              </a:rPr>
              <a:t>$13.2B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500" y="1800000"/>
            <a:ext cx="29671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D1D1F"/>
                </a:solidFill>
                <a:latin typeface="Calibri"/>
              </a:rP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500" y="2200000"/>
            <a:ext cx="29671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South Korea's beauty market
with 2,800+ active brands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200" y="1000000"/>
            <a:ext cx="3467100" cy="2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200" y="1000000"/>
            <a:ext cx="34671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200" y="1200000"/>
            <a:ext cx="29671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71E3"/>
                </a:solidFill>
                <a:latin typeface="Calibri"/>
              </a:rPr>
              <a:t>400%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200" y="1800000"/>
            <a:ext cx="29671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D1D1F"/>
                </a:solidFill>
                <a:latin typeface="Calibri"/>
              </a:rPr>
              <a:t>US Import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200" y="2200000"/>
            <a:ext cx="29671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Increase in K-Beauty imports
since 2015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2900" y="1000000"/>
            <a:ext cx="3467100" cy="2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2900" y="1000000"/>
            <a:ext cx="34671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2900" y="1200000"/>
            <a:ext cx="29671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71E3"/>
                </a:solidFill>
                <a:latin typeface="Calibri"/>
              </a:rPr>
              <a:t>48B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2900" y="1800000"/>
            <a:ext cx="29671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D1D1F"/>
                </a:solidFill>
                <a:latin typeface="Calibri"/>
              </a:rPr>
              <a:t>TikTok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2900" y="2200000"/>
            <a:ext cx="29671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#KBeauty hashtag reach
across global audiences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3650000"/>
            <a:ext cx="5350000" cy="2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3650000"/>
            <a:ext cx="53500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500" y="3850000"/>
            <a:ext cx="475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71E3"/>
                </a:solidFill>
                <a:latin typeface="Calibri"/>
              </a:rPr>
              <a:t>$230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500" y="4450000"/>
            <a:ext cx="47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D1D1F"/>
                </a:solidFill>
                <a:latin typeface="Calibri"/>
              </a:rPr>
              <a:t>Annual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500" y="4850000"/>
            <a:ext cx="475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Per capita skincare in Korea
vs $110 in the 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1500" y="3650000"/>
            <a:ext cx="5350000" cy="2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1500" y="3650000"/>
            <a:ext cx="53500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1500" y="3850000"/>
            <a:ext cx="475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71E3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1500" y="4450000"/>
            <a:ext cx="47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D1D1F"/>
                </a:solidFill>
                <a:latin typeface="Calibri"/>
              </a:rPr>
              <a:t>Top Markets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1500" y="4850000"/>
            <a:ext cx="475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China, United States, Japan
and Southeast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630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Source: Statista, Korea Customs Service, TikTok Analytics,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00000"/>
            <a:ext cx="103632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1D1D1F"/>
                </a:solidFill>
                <a:latin typeface="Calibri"/>
              </a:rPr>
              <a:t>Your Skin, Your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00000"/>
            <a:ext cx="28000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000"/>
            <a:ext cx="103632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6E6E73"/>
                </a:solidFill>
                <a:latin typeface="Calibri"/>
              </a:rPr>
              <a:t>The future of beauty is personal, science-driven, and inclusive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300000"/>
            <a:ext cx="10363200" cy="18288"/>
          </a:xfrm>
          <a:prstGeom prst="rect">
            <a:avLst/>
          </a:prstGeom>
          <a:solidFill>
            <a:srgbClr val="D1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00000"/>
            <a:ext cx="103632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K-Beauty Market Analysis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