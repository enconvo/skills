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12480" y="4493266"/>
            <a:ext cx="365760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0" y="4572000"/>
            <a:ext cx="7315200" cy="10972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6000" b="1" i="0">
                <a:solidFill>
                  <a:srgbClr val="FFFFFF"/>
                </a:solidFill>
                <a:latin typeface="Georgia"/>
              </a:defRPr>
            </a:pPr>
            <a:r>
              <a:rPr spc="400" dirty="0"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THE K-BEAUTY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0263" y="5509260"/>
            <a:ext cx="7315200" cy="914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6000" b="1" i="0">
                <a:solidFill>
                  <a:srgbClr val="FFD600"/>
                </a:solidFill>
                <a:latin typeface="Georgia"/>
              </a:defRPr>
            </a:pPr>
            <a:r>
              <a:rPr spc="400"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REVOLUTION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6314942"/>
            <a:ext cx="640080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2000" b="0" i="1">
                <a:solidFill>
                  <a:srgbClr val="FFFFFF"/>
                </a:solidFill>
                <a:latin typeface="Georgia"/>
              </a:defRPr>
            </a:pPr>
            <a:r>
              <a:rPr dirty="0"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How Korea Redefined Skincare for the World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457200"/>
            <a:ext cx="3108960" cy="2286000"/>
          </a:xfrm>
          <a:prstGeom prst="roundRect">
            <a:avLst>
              <a:gd name="adj" fmla="val 3000"/>
            </a:avLst>
          </a:prstGeom>
          <a:solidFill>
            <a:srgbClr val="0A0A0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0" y="5943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MARKET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960120"/>
            <a:ext cx="1828800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0" y="1097280"/>
            <a:ext cx="274320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$13.2B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828800"/>
            <a:ext cx="274320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 i="0">
                <a:solidFill>
                  <a:srgbClr val="757575"/>
                </a:solidFill>
                <a:latin typeface="Georgia"/>
              </a:defRPr>
            </a:pPr>
            <a:r>
              <a:t>Growing at 9.3% CAGR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_rou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20040"/>
            <a:ext cx="27432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rPr spc="300">
                <a:effectLst>
                  <a:outerShdw blurRad="50800" dist="19050" dir="5400000" algn="ctr">
                    <a:srgbClr val="FFFFFF"/>
                  </a:outerShdw>
                </a:effectLst>
              </a:rPr>
              <a:t>THE 10-STEP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268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0" i="1">
                <a:solidFill>
                  <a:srgbClr val="FFFFFF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FFFFFF"/>
                  </a:outerShdw>
                </a:effectLst>
              </a:rPr>
              <a:t>Morning protection meets evening restoration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834640" cy="1005840"/>
          </a:xfrm>
          <a:prstGeom prst="roundRect">
            <a:avLst>
              <a:gd name="adj" fmla="val 3000"/>
            </a:avLst>
          </a:prstGeom>
          <a:solidFill>
            <a:srgbClr val="1A237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0" y="365760"/>
            <a:ext cx="118872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000" b="1" i="0">
                <a:solidFill>
                  <a:srgbClr val="FFFFFF"/>
                </a:solidFill>
                <a:latin typeface="Georgia"/>
              </a:defRPr>
            </a:pPr>
            <a: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835660"/>
            <a:ext cx="246888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CCCCFF"/>
                </a:solidFill>
                <a:latin typeface="Georgia"/>
              </a:defRPr>
            </a:pPr>
            <a:r>
              <a:t>Korean women  |  35% Global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5669280" cy="5029200"/>
          </a:xfrm>
          <a:prstGeom prst="roundRect">
            <a:avLst>
              <a:gd name="adj" fmla="val 3000"/>
            </a:avLst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 i="0">
                <a:solidFill>
                  <a:srgbClr val="FFD600"/>
                </a:solidFill>
                <a:latin typeface="Georgia"/>
              </a:defRPr>
            </a:pPr>
            <a:r>
              <a:t>MORNING — Protection &amp; Prep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5120640" cy="3657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1. Oil Cleanser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Dissolve sunscreen &amp; makeup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2. Water Cleanser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334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Deep clean pores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80944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3. Exfoliant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980944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2-3x weekly cell turnover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28416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4. Toner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28416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Balance &amp; prep skin 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75888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5. Essence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675888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Core hydration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6. Serum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0233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Targeted treatment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7083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7. Moisturizer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Seal in all layers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18304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8. Sunscreen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718304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SPF 50+ daily protection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554480"/>
            <a:ext cx="5669280" cy="5029200"/>
          </a:xfrm>
          <a:prstGeom prst="roundRect">
            <a:avLst>
              <a:gd name="adj" fmla="val 3000"/>
            </a:avLst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1691640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1" i="0">
                <a:solidFill>
                  <a:srgbClr val="FFD600"/>
                </a:solidFill>
                <a:latin typeface="Georgia"/>
              </a:defRPr>
            </a:pPr>
            <a:r>
              <a:t>NIGHT — Repair &amp; Restore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2103120"/>
            <a:ext cx="5120640" cy="3657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228600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1. Oil Cleanser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Double cleanse 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63347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2. Water Cleanser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6334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Remove residual impurities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980944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3. Exfoliant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980944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Chemical/physical turnover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328416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4. Toner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328416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Rebalance after cleansing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675888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5. Essence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3675888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Fermented nutrient boost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02336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6. Serum/Ampoule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40233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Concentrated repair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37083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7. Sheet Mask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15-min deep infusion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718304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8. Night Cream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4718304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t>Rich overnight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_ingred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55600"/>
            <a:ext cx="2743200" cy="76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1219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rPr spc="300"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HERO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27200"/>
            <a:ext cx="63500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0" i="1">
                <a:solidFill>
                  <a:srgbClr val="CCCCCC"/>
                </a:solidFill>
                <a:latin typeface="Georgia"/>
              </a:defRPr>
            </a:pPr>
            <a:r>
              <a:rPr>
                <a:solidFill>
                  <a:srgbClr val="CCCCCC"/>
                </a:solidFill>
                <a:effectLst>
                  <a:outerShdw blurRad="50800" dist="19050" dir="5400000" algn="ctr">
                    <a:srgbClr val="000000"/>
                  </a:outerShdw>
                </a:effectLst>
              </a:rPr>
              <a:t>Science-backed actives powering the revolution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376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 i="0">
                <a:solidFill>
                  <a:srgbClr val="E91E63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Snail Mucin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3800"/>
            <a:ext cx="6350000" cy="406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Glycoproteins &amp; hyaluronic acid. Repair micro-tears, deep hydration, fade scars.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290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 i="0">
                <a:solidFill>
                  <a:srgbClr val="E91E63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Niacinamide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2940"/>
            <a:ext cx="6350000" cy="406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Vitamin B3. Brightens dark spots, minimizes pores, strengthens barrier.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2204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 i="0">
                <a:solidFill>
                  <a:srgbClr val="E91E63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Centella Asiatica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42080"/>
            <a:ext cx="6350000" cy="406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Tiger grass. Anti-inflammatory, accelerates healing, calms redness.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18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 i="0">
                <a:solidFill>
                  <a:srgbClr val="E91E63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Rice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81220"/>
            <a:ext cx="6350000" cy="406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Fermented rice water. Kojic acid for brightening, centuries of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0032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 i="0">
                <a:solidFill>
                  <a:srgbClr val="E91E63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Propolis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20360"/>
            <a:ext cx="6350000" cy="406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FFFFFF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Bee resin. Antibacterial, antioxidant, seals moisture.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877560"/>
            <a:ext cx="5588000" cy="965200"/>
          </a:xfrm>
          <a:prstGeom prst="roundRect">
            <a:avLst>
              <a:gd name="adj" fmla="val 3000"/>
            </a:avLst>
          </a:prstGeom>
          <a:solidFill>
            <a:srgbClr val="1A1A1A">
              <a:alpha val="90000"/>
            </a:srgbClr>
          </a:solidFill>
          <a:ln w="12700">
            <a:solidFill>
              <a:srgbClr val="444444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59537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E91E63"/>
                </a:solidFill>
                <a:latin typeface="Calibri"/>
              </a:defRPr>
            </a:pPr>
            <a:r>
              <a:t>MARKET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0000" y="5953760"/>
            <a:ext cx="355600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2400" b="1" i="0">
                <a:solidFill>
                  <a:srgbClr val="FFFFFF"/>
                </a:solidFill>
                <a:latin typeface="Georgia"/>
              </a:defRPr>
            </a:pPr>
            <a:r>
              <a:t>$13.2B → $21.8B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09360"/>
            <a:ext cx="482600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 i="0">
                <a:solidFill>
                  <a:srgbClr val="757575"/>
                </a:solidFill>
                <a:latin typeface="Georgia"/>
              </a:defRPr>
            </a:pPr>
            <a:r>
              <a:t>65% growth driven by global adoption of Korean skincare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20040"/>
            <a:ext cx="320040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736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rPr spc="300"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GLOBAL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4460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0" i="1">
                <a:solidFill>
                  <a:srgbClr val="FFFFF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  <a:effectLst>
                  <a:outerShdw blurRad="50800" dist="19050" dir="5400000" algn="ctr">
                    <a:srgbClr val="000000">
                      <a:alpha val="55000"/>
                    </a:srgbClr>
                  </a:outerShdw>
                </a:effectLst>
              </a:rPr>
              <a:t>K-Beauty's worldwide footprint in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20440" cy="2194560"/>
          </a:xfrm>
          <a:prstGeom prst="roundRect">
            <a:avLst>
              <a:gd name="adj" fmla="val 3000"/>
            </a:avLst>
          </a:prstGeom>
          <a:solidFill>
            <a:srgbClr val="0A0A0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971800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MARKET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971800" cy="782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200" b="1" i="0">
                <a:solidFill>
                  <a:srgbClr val="FFFFFF"/>
                </a:solidFill>
                <a:latin typeface="Georgia"/>
              </a:defRPr>
            </a:pPr>
            <a:r>
              <a:t>$13.2B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02280"/>
            <a:ext cx="2971800" cy="6400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 i="0">
                <a:solidFill>
                  <a:srgbClr val="FFFFF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Global value, 9.3% CAGR annually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45920"/>
            <a:ext cx="3520440" cy="2194560"/>
          </a:xfrm>
          <a:prstGeom prst="roundRect">
            <a:avLst>
              <a:gd name="adj" fmla="val 3000"/>
            </a:avLst>
          </a:prstGeom>
          <a:solidFill>
            <a:srgbClr val="0A0A0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2971800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IMPORT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103120"/>
            <a:ext cx="182880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2971800" cy="782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200" b="1" i="0">
                <a:solidFill>
                  <a:srgbClr val="FFFFFF"/>
                </a:solidFill>
                <a:latin typeface="Georgia"/>
              </a:defRPr>
            </a:pPr>
            <a:r>
              <a:t>400%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002280"/>
            <a:ext cx="2971800" cy="6400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 i="0">
                <a:solidFill>
                  <a:srgbClr val="FFFFF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US Korean skincare imports surged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645920"/>
            <a:ext cx="3520440" cy="2194560"/>
          </a:xfrm>
          <a:prstGeom prst="roundRect">
            <a:avLst>
              <a:gd name="adj" fmla="val 3000"/>
            </a:avLst>
          </a:prstGeom>
          <a:solidFill>
            <a:srgbClr val="0A0A0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783080"/>
            <a:ext cx="2971800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TIKTOK 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182880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194560"/>
            <a:ext cx="2971800" cy="782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200" b="1" i="0">
                <a:solidFill>
                  <a:srgbClr val="FFFFFF"/>
                </a:solidFill>
                <a:latin typeface="Georgia"/>
              </a:defRPr>
            </a:pPr>
            <a:r>
              <a:t>48B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002280"/>
            <a:ext cx="2971800" cy="6400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 i="0">
                <a:solidFill>
                  <a:srgbClr val="FFFFF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#KBeauty driving Gen Z adoption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0A0A0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ANNUAL SPEND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72000"/>
            <a:ext cx="182880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2540000" cy="8255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$230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4400" y="4343400"/>
            <a:ext cx="2184400" cy="16459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 i="0">
                <a:solidFill>
                  <a:srgbClr val="FFFFF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Korean woman avg. yearly investment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411480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0A0A0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25196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TOP DESTINATIONS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572000"/>
            <a:ext cx="182880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4663440"/>
            <a:ext cx="2971800" cy="8255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4 MARKETS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343400"/>
            <a:ext cx="2032000" cy="16459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 i="0">
                <a:solidFill>
                  <a:srgbClr val="FFFFF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US, China, Japan, SE Asia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5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3200400"/>
            <a:ext cx="3657600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6400800" cy="1371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5400" b="1" i="0">
                <a:solidFill>
                  <a:srgbClr val="FFFFFF"/>
                </a:solidFill>
                <a:latin typeface="Georgia"/>
              </a:defRPr>
            </a:pPr>
            <a:r>
              <a:rPr spc="200">
                <a:effectLst>
                  <a:outerShdw blurRad="50800" dist="19050" dir="5400000" algn="ctr">
                    <a:srgbClr val="FFFFFF"/>
                  </a:outerShdw>
                </a:effectLst>
              </a:rPr>
              <a:t>Your Skin,</a:t>
            </a:r>
            <a:br/>
            <a:r>
              <a:rPr spc="200">
                <a:effectLst>
                  <a:outerShdw blurRad="50800" dist="19050" dir="5400000" algn="ctr">
                    <a:srgbClr val="FFFFFF"/>
                  </a:outerShdw>
                </a:effectLst>
              </a:rPr>
              <a:t>Your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6400800" cy="914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2200" b="0" i="1">
                <a:solidFill>
                  <a:srgbClr val="E91E63"/>
                </a:solidFill>
                <a:latin typeface="Georgia"/>
              </a:defRPr>
            </a:pPr>
            <a:r>
              <a:rPr>
                <a:effectLst>
                  <a:outerShdw blurRad="50800" dist="19050" dir="5400000" algn="ctr">
                    <a:srgbClr val="FFFFFF"/>
                  </a:outerShdw>
                </a:effectLst>
              </a:rPr>
              <a:t>The future of beauty is personal,</a:t>
            </a:r>
            <a:br/>
            <a:r>
              <a:rPr>
                <a:effectLst>
                  <a:outerShdw blurRad="50800" dist="19050" dir="5400000" algn="ctr">
                    <a:srgbClr val="FFFFFF"/>
                  </a:outerShdw>
                </a:effectLst>
              </a:rPr>
              <a:t>science-driven, and inclusive.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914400"/>
            <a:ext cx="4297680" cy="1554480"/>
          </a:xfrm>
          <a:prstGeom prst="roundRect">
            <a:avLst>
              <a:gd name="adj" fmla="val 3000"/>
            </a:avLst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79" y="1024128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E91E63"/>
                </a:solidFill>
                <a:latin typeface="Calibri"/>
              </a:defRPr>
            </a:pPr>
            <a:r>
              <a:t>INNOVATION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371600"/>
            <a:ext cx="1371600" cy="36576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463040"/>
            <a:ext cx="3840480" cy="8229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 i="0">
                <a:solidFill>
                  <a:srgbClr val="FFFFFF"/>
                </a:solidFill>
                <a:latin typeface="Georgia"/>
              </a:defRPr>
            </a:pPr>
            <a:r>
              <a:t>Korean labs lead global skincare R&amp;D and fermentation biotech.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606040"/>
            <a:ext cx="4297680" cy="1554480"/>
          </a:xfrm>
          <a:prstGeom prst="roundRect">
            <a:avLst>
              <a:gd name="adj" fmla="val 3000"/>
            </a:avLst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2715768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E91E63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3063240"/>
            <a:ext cx="1371600" cy="36576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3154680"/>
            <a:ext cx="3840480" cy="8229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 i="0">
                <a:solidFill>
                  <a:srgbClr val="FFFFFF"/>
                </a:solidFill>
                <a:latin typeface="Georgia"/>
              </a:defRPr>
            </a:pPr>
            <a:r>
              <a:t>48 billion TikTok views. A worldwide movement of shared routines.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297680"/>
            <a:ext cx="4297680" cy="1554480"/>
          </a:xfrm>
          <a:prstGeom prst="roundRect">
            <a:avLst>
              <a:gd name="adj" fmla="val 3000"/>
            </a:avLst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4407408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 i="0">
                <a:solidFill>
                  <a:srgbClr val="E91E63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4754880"/>
            <a:ext cx="1371600" cy="36576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79" y="4846320"/>
            <a:ext cx="3840480" cy="8229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 i="0">
                <a:solidFill>
                  <a:srgbClr val="FFFFFF"/>
                </a:solidFill>
                <a:latin typeface="Georgia"/>
              </a:defRPr>
            </a:pPr>
            <a:r>
              <a:t>From luxury to drugstore — quality skincare for every budget.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364</Words>
  <Application>Microsoft Macintosh PowerPoint</Application>
  <PresentationFormat>Widescreen</PresentationFormat>
  <Paragraphs>84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wz yao</cp:lastModifiedBy>
  <cp:revision>2</cp:revision>
  <dcterms:created xsi:type="dcterms:W3CDTF">2013-01-27T09:14:16Z</dcterms:created>
  <dcterms:modified xsi:type="dcterms:W3CDTF">2026-03-13T17:41:00Z</dcterms:modified>
  <cp:category/>
</cp:coreProperties>
</file>