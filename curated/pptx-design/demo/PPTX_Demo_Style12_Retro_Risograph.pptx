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078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2286000"/>
            <a:ext cx="5029200" cy="5029200"/>
          </a:xfrm>
          <a:prstGeom prst="ellipse">
            <a:avLst/>
          </a:prstGeom>
          <a:solidFill>
            <a:srgbClr val="FF665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457200"/>
            <a:ext cx="5029200" cy="5029200"/>
          </a:xfrm>
          <a:prstGeom prst="ellipse">
            <a:avLst/>
          </a:prstGeom>
          <a:solidFill>
            <a:srgbClr val="00A95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1444752"/>
            <a:ext cx="6858000" cy="274320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6858000" cy="274320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630936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5400" b="1">
                <a:solidFill>
                  <a:srgbClr val="FFFFFF"/>
                </a:solidFill>
                <a:latin typeface="Rockwell"/>
              </a:defRPr>
            </a:pPr>
            <a:r>
              <a:t>THE K-BEAUTY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630936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5400" b="1">
                <a:solidFill>
                  <a:srgbClr val="FFFFFF"/>
                </a:solidFill>
                <a:latin typeface="Rockwell"/>
              </a:defRPr>
            </a:pPr>
            <a:r>
              <a:t>REVOLUTION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685800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000" b="0">
                <a:solidFill>
                  <a:srgbClr val="1B2838"/>
                </a:solidFill>
                <a:latin typeface="Consolas"/>
              </a:defRPr>
            </a:pPr>
            <a:r>
              <a:t>How Korea Redefined Skincare for the World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2752" y="4187952"/>
            <a:ext cx="3200400" cy="20116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4114800"/>
            <a:ext cx="3200400" cy="201168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297680"/>
            <a:ext cx="283464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400" b="1">
                <a:solidFill>
                  <a:srgbClr val="FFFFFF"/>
                </a:solidFill>
                <a:latin typeface="Rockwell"/>
              </a:defRPr>
            </a:pPr>
            <a:r>
              <a:t>$13.2B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029200"/>
            <a:ext cx="283464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FFCCCC"/>
                </a:solidFill>
                <a:latin typeface="Consolas"/>
              </a:defRPr>
            </a:pPr>
            <a:r>
              <a:t>GLOBAL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109728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>
                <a:solidFill>
                  <a:srgbClr val="1B2838"/>
                </a:solidFill>
                <a:latin typeface="Rockwell"/>
              </a:defRPr>
            </a:pPr>
            <a:r>
              <a:t>THE 10-STEP ROUTINE</a:t>
            </a:r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3200400" cy="3200400"/>
          </a:xfrm>
          <a:prstGeom prst="ellipse">
            <a:avLst/>
          </a:prstGeom>
          <a:solidFill>
            <a:srgbClr val="00A95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02752" y="256032"/>
            <a:ext cx="1645920" cy="6400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1645920" cy="64008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228600"/>
            <a:ext cx="1463040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defRPr sz="2800" b="1">
                <a:solidFill>
                  <a:srgbClr val="FFFFFF"/>
                </a:solidFill>
                <a:latin typeface="Rockwell"/>
              </a:defRPr>
            </a:pPr>
            <a:r>
              <a:t>92%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1552" y="256032"/>
            <a:ext cx="1645920" cy="6400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645920" cy="64008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0" y="228600"/>
            <a:ext cx="1463040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defRPr sz="2800" b="1">
                <a:solidFill>
                  <a:srgbClr val="FFFFFF"/>
                </a:solidFill>
                <a:latin typeface="Rockwell"/>
              </a:defRPr>
            </a:pPr>
            <a:r>
              <a:t>35%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170432"/>
            <a:ext cx="5577840" cy="50292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5577840" cy="50292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43000"/>
            <a:ext cx="5212080" cy="4114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defRPr sz="2000" b="1">
                <a:solidFill>
                  <a:srgbClr val="FFFFFF"/>
                </a:solidFill>
                <a:latin typeface="Rockwell"/>
              </a:defRPr>
            </a:pPr>
            <a:r>
              <a:t>MORNING — PROTECTION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1. Oil Cleanser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Dissolve sunscreen &amp; makeup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2. Water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3774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Deep clean pores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036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3. Exfoliant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92608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2-3x weekly turnover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7472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4. Toner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7472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Balance skin 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2336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5. Essence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02336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Core hydration 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2628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5720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6. Serum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Targeted treatment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2064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7. Moisturizer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1206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Seal in layers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2356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66928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8. Sunscreen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66928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SPF 50+ daily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1170432"/>
            <a:ext cx="5577840" cy="50292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1097280"/>
            <a:ext cx="5577840" cy="50292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143000"/>
            <a:ext cx="5212080" cy="4114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defRPr sz="2000" b="1">
                <a:solidFill>
                  <a:srgbClr val="FFFFFF"/>
                </a:solidFill>
                <a:latin typeface="Rockwell"/>
              </a:defRPr>
            </a:pPr>
            <a:r>
              <a:t>NIGHT — REPAIR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1. Oil Cleanser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Double cleanse start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33172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37744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2. Water Cleanser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23774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Remove impurities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88036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292608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3. Exfoliant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292608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Chemical turnover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42900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47472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4. Toner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47472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Rebalance pH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97764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02336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5. Essence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02336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Fermented nutrients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52628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45720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6. Serum/Ampoule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Concentrated repair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074920"/>
            <a:ext cx="5577840" cy="548640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12064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7. Sheet Mask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51206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15-min deep infusion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623560"/>
            <a:ext cx="5577840" cy="54864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566928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B2838"/>
                </a:solidFill>
                <a:latin typeface="Consolas"/>
              </a:defRPr>
            </a:pPr>
            <a:r>
              <a:t>8. Night Cream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66928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55606A"/>
                </a:solidFill>
                <a:latin typeface="Consolas"/>
              </a:defRPr>
            </a:pPr>
            <a:r>
              <a:t>Overnight recovery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>
                <a:solidFill>
                  <a:srgbClr val="1B2838"/>
                </a:solidFill>
                <a:latin typeface="Rockwell"/>
              </a:defRPr>
            </a:pPr>
            <a:r>
              <a:t>HERO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>
                <a:solidFill>
                  <a:srgbClr val="55606A"/>
                </a:solidFill>
                <a:latin typeface="Consolas"/>
              </a:defRPr>
            </a:pPr>
            <a:r>
              <a:t>Science-backed actives powering the revolution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59952" y="256032"/>
            <a:ext cx="3108960" cy="91440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182880"/>
            <a:ext cx="3108960" cy="9144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743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400" b="1">
                <a:solidFill>
                  <a:srgbClr val="FFFFFF"/>
                </a:solidFill>
                <a:latin typeface="Rockwell"/>
              </a:defRPr>
            </a:pPr>
            <a:r>
              <a:t>$13.2B → $21.8B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008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CCFFDD"/>
                </a:solidFill>
                <a:latin typeface="Consolas"/>
              </a:defRPr>
            </a:pPr>
            <a:r>
              <a:t>MARKET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536192"/>
            <a:ext cx="2148840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148840" cy="109728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1929384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FF"/>
                </a:solidFill>
                <a:latin typeface="Rockwell"/>
              </a:defRPr>
            </a:pPr>
            <a:r>
              <a:t>SNAIL MUCIN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011680"/>
            <a:ext cx="1929384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FFDD"/>
                </a:solidFill>
                <a:latin typeface="Consolas"/>
              </a:defRPr>
            </a:pPr>
            <a:r>
              <a:t>Glycoproteins &amp; hyaluronic acid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205740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B2838"/>
                </a:solidFill>
                <a:latin typeface="Consolas"/>
              </a:defRPr>
            </a:pPr>
            <a:r>
              <a:t>Repair micro-tears, deep hydration, fade scars. Gold standard for damaged skin.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1536192"/>
            <a:ext cx="2148840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1463040"/>
            <a:ext cx="2148840" cy="109728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1554480"/>
            <a:ext cx="1929384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FF"/>
                </a:solidFill>
                <a:latin typeface="Rockwell"/>
              </a:defRPr>
            </a:pPr>
            <a:r>
              <a:t>NIACINAMIDE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011680"/>
            <a:ext cx="1929384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FFDD"/>
                </a:solidFill>
                <a:latin typeface="Consolas"/>
              </a:defRPr>
            </a:pPr>
            <a:r>
              <a:t>Vitamin B3 derivative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697480"/>
            <a:ext cx="205740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B2838"/>
                </a:solidFill>
                <a:latin typeface="Consolas"/>
              </a:defRPr>
            </a:pPr>
            <a:r>
              <a:t>Brightens dark spots, minimizes pores, strengthens skin barrier. Most versatile active.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536192"/>
            <a:ext cx="2148840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463040"/>
            <a:ext cx="2148840" cy="109728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554480"/>
            <a:ext cx="1929384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FF"/>
                </a:solidFill>
                <a:latin typeface="Rockwell"/>
              </a:defRPr>
            </a:pPr>
            <a:r>
              <a:t>CENTELLA ASIATICA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011680"/>
            <a:ext cx="1929384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FFDD"/>
                </a:solidFill>
                <a:latin typeface="Consolas"/>
              </a:defRPr>
            </a:pPr>
            <a:r>
              <a:t>Tiger grass 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697480"/>
            <a:ext cx="205740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B2838"/>
                </a:solidFill>
                <a:latin typeface="Consolas"/>
              </a:defRPr>
            </a:pPr>
            <a:r>
              <a:t>Anti-inflammatory, accelerates wound healing, calms redness. Sacred in traditional medicine.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536192"/>
            <a:ext cx="2148840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1463040"/>
            <a:ext cx="2148840" cy="109728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8" y="1554480"/>
            <a:ext cx="1929384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FF"/>
                </a:solidFill>
                <a:latin typeface="Rockwell"/>
              </a:defRPr>
            </a:pPr>
            <a:r>
              <a:t>RICE EXTRACT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011680"/>
            <a:ext cx="1929384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FFDD"/>
                </a:solidFill>
                <a:latin typeface="Consolas"/>
              </a:defRPr>
            </a:pPr>
            <a:r>
              <a:t>Fermented rice water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97480"/>
            <a:ext cx="205740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B2838"/>
                </a:solidFill>
                <a:latin typeface="Consolas"/>
              </a:defRPr>
            </a:pPr>
            <a:r>
              <a:t>Kojic acid for brightening. Centuries of use for luminous, radiant skin.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1536192"/>
            <a:ext cx="2148840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60" y="1463040"/>
            <a:ext cx="2148840" cy="109728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9488" y="1554480"/>
            <a:ext cx="1929384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FF"/>
                </a:solidFill>
                <a:latin typeface="Rockwell"/>
              </a:defRPr>
            </a:pPr>
            <a:r>
              <a:t>PROPOLIS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011680"/>
            <a:ext cx="1929384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FFDD"/>
                </a:solidFill>
                <a:latin typeface="Consolas"/>
              </a:defRPr>
            </a:pPr>
            <a:r>
              <a:t>Bee resin 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697480"/>
            <a:ext cx="205740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B2838"/>
                </a:solidFill>
                <a:latin typeface="Consolas"/>
              </a:defRPr>
            </a:pPr>
            <a:r>
              <a:t>Antibacterial, antioxidant powerhouse. Seals moisture, protects against environmental damage.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" y="4645152"/>
            <a:ext cx="11430000" cy="182880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400" b="1">
                <a:solidFill>
                  <a:srgbClr val="00A95C"/>
                </a:solidFill>
                <a:latin typeface="Rockwell"/>
              </a:defRPr>
            </a:pPr>
            <a:r>
              <a:t>WHY THESE INGREDIENTS 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CCCCBB"/>
                </a:solidFill>
                <a:latin typeface="Consolas"/>
              </a:defRPr>
            </a:pPr>
            <a:r>
              <a:t>Korean labs invest in fermentation biotech, snail farming, and centella cultivation — creating a vertically integrated ingredient supply chain unmatched globally. 65% growth driven by global adoption.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0" y="914400"/>
            <a:ext cx="2743200" cy="2743200"/>
          </a:xfrm>
          <a:prstGeom prst="ellipse">
            <a:avLst/>
          </a:prstGeom>
          <a:solidFill>
            <a:srgbClr val="FF665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078B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FF665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>
                <a:solidFill>
                  <a:srgbClr val="FFFFFF"/>
                </a:solidFill>
                <a:latin typeface="Rockwell"/>
              </a:defRPr>
            </a:pPr>
            <a:r>
              <a:t>GLOBAL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>
                <a:solidFill>
                  <a:srgbClr val="889099"/>
                </a:solidFill>
                <a:latin typeface="Consolas"/>
              </a:defRPr>
            </a:pPr>
            <a:r>
              <a:t>K-Beauty's worldwide footprint in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2377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237744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400" b="1">
                <a:solidFill>
                  <a:srgbClr val="FFFFFF"/>
                </a:solidFill>
                <a:latin typeface="Rockwell"/>
              </a:defRPr>
            </a:pPr>
            <a:r>
              <a:t>$13.2B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10896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DD"/>
                </a:solidFill>
                <a:latin typeface="Rockwell"/>
              </a:defRPr>
            </a:pPr>
            <a:r>
              <a:t>MARKET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10896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Global value, 9.3% CAGR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657600" cy="2377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463040"/>
            <a:ext cx="3657600" cy="237744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400" b="1">
                <a:solidFill>
                  <a:srgbClr val="FFFFFF"/>
                </a:solidFill>
                <a:latin typeface="Rockwell"/>
              </a:defRPr>
            </a:pPr>
            <a:r>
              <a:t>400%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310896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DD"/>
                </a:solidFill>
                <a:latin typeface="Rockwell"/>
              </a:defRPr>
            </a:pPr>
            <a:r>
              <a:t>IMPORT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17520"/>
            <a:ext cx="310896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US Korean skincare imports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554480"/>
            <a:ext cx="3840480" cy="2377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463040"/>
            <a:ext cx="3840480" cy="237744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737360"/>
            <a:ext cx="329184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400" b="1">
                <a:solidFill>
                  <a:srgbClr val="FFFFFF"/>
                </a:solidFill>
                <a:latin typeface="Rockwell"/>
              </a:defRPr>
            </a:pPr>
            <a:r>
              <a:t>48B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DD"/>
                </a:solidFill>
                <a:latin typeface="Rockwell"/>
              </a:defRPr>
            </a:pPr>
            <a:r>
              <a:t>TIKTOK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3017520"/>
            <a:ext cx="329184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#KBeauty hashtag 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5486400" cy="2286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114800"/>
            <a:ext cx="5486400" cy="228600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>
                <a:solidFill>
                  <a:srgbClr val="FFFFFF"/>
                </a:solidFill>
                <a:latin typeface="Rockwell"/>
              </a:defRPr>
            </a:pPr>
            <a:r>
              <a:t>$230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DD"/>
                </a:solidFill>
                <a:latin typeface="Rockwell"/>
              </a:defRPr>
            </a:pPr>
            <a:r>
              <a:t>ANNUAL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Korean woman avg. yearly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4206240"/>
            <a:ext cx="5806440" cy="2286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4114800"/>
            <a:ext cx="5806440" cy="228600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343400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>
                <a:solidFill>
                  <a:srgbClr val="FFFFFF"/>
                </a:solidFill>
                <a:latin typeface="Rockwell"/>
              </a:defRPr>
            </a:pPr>
            <a:r>
              <a:t>4 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12064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>
                <a:solidFill>
                  <a:srgbClr val="FFFFDD"/>
                </a:solidFill>
                <a:latin typeface="Rockwell"/>
              </a:defRPr>
            </a:pPr>
            <a:r>
              <a:t>TOP DESTINATIONS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77840"/>
            <a:ext cx="52578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US, China, Japan, SE Asia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0078B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4572000" cy="4572000"/>
          </a:xfrm>
          <a:prstGeom prst="ellipse">
            <a:avLst/>
          </a:prstGeom>
          <a:solidFill>
            <a:srgbClr val="FF665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4572000" cy="4572000"/>
          </a:xfrm>
          <a:prstGeom prst="ellipse">
            <a:avLst/>
          </a:prstGeom>
          <a:solidFill>
            <a:srgbClr val="00A95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81328" y="1938528"/>
            <a:ext cx="9418320" cy="320040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50392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4800" b="1">
                <a:solidFill>
                  <a:srgbClr val="FFFFFF"/>
                </a:solidFill>
                <a:latin typeface="Rockwell"/>
              </a:defRPr>
            </a:pPr>
            <a:r>
              <a:t>YOUR SKIN, YOUR 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91840"/>
            <a:ext cx="2103120" cy="73152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566160"/>
            <a:ext cx="758952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2200" b="0">
                <a:solidFill>
                  <a:srgbClr val="CCCCBB"/>
                </a:solidFill>
                <a:latin typeface="Consolas"/>
              </a:defRPr>
            </a:pPr>
            <a:r>
              <a:t>The future of beauty is personal,</a:t>
            </a:r>
            <a:br/>
            <a:r>
              <a:t>science-driven, and inclusive.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5559552"/>
            <a:ext cx="3749039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486400"/>
            <a:ext cx="3749039" cy="1097280"/>
          </a:xfrm>
          <a:prstGeom prst="rect">
            <a:avLst/>
          </a:prstGeom>
          <a:solidFill>
            <a:srgbClr val="007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3383279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2000" b="1">
                <a:solidFill>
                  <a:srgbClr val="FFFFFF"/>
                </a:solidFill>
                <a:latin typeface="Rockwell"/>
              </a:defRPr>
            </a:pPr>
            <a: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3383279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1400" b="0">
                <a:solidFill>
                  <a:srgbClr val="CCDDFF"/>
                </a:solidFill>
                <a:latin typeface="Consolas"/>
              </a:defRPr>
            </a:pPr>
            <a:r>
              <a:t>Leading skincare R&amp;D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5559552"/>
            <a:ext cx="3749039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5486400"/>
            <a:ext cx="3749039" cy="1097280"/>
          </a:xfrm>
          <a:prstGeom prst="rect">
            <a:avLst/>
          </a:prstGeom>
          <a:solidFill>
            <a:srgbClr val="FF6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623560"/>
            <a:ext cx="3383279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2000" b="1">
                <a:solidFill>
                  <a:srgbClr val="FFFFFF"/>
                </a:solidFill>
                <a:latin typeface="Rockwell"/>
              </a:defRPr>
            </a:pPr>
            <a: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989320"/>
            <a:ext cx="3383279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1400" b="0">
                <a:solidFill>
                  <a:srgbClr val="FFDDCC"/>
                </a:solidFill>
                <a:latin typeface="Consolas"/>
              </a:defRPr>
            </a:pPr>
            <a:r>
              <a:t>48B TikTok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5559552"/>
            <a:ext cx="3749039" cy="1097280"/>
          </a:xfrm>
          <a:prstGeom prst="rect">
            <a:avLst/>
          </a:prstGeom>
          <a:solidFill>
            <a:srgbClr val="1B28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5486400"/>
            <a:ext cx="3749039" cy="109728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623560"/>
            <a:ext cx="3383279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2000" b="1">
                <a:solidFill>
                  <a:srgbClr val="FFFFFF"/>
                </a:solidFill>
                <a:latin typeface="Rockwell"/>
              </a:defRPr>
            </a:pPr>
            <a:r>
              <a:t>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989320"/>
            <a:ext cx="3383279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ctr">
              <a:defRPr sz="1400" b="0">
                <a:solidFill>
                  <a:srgbClr val="CCFFDD"/>
                </a:solidFill>
                <a:latin typeface="Consolas"/>
              </a:defRPr>
            </a:pPr>
            <a:r>
              <a:t>Beauty for everyone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