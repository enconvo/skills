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500000" y="500000"/>
            <a:ext cx="3000000" cy="2743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0000000" y="6000000"/>
            <a:ext cx="3000000" cy="27432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000"/>
            <a:ext cx="10363200" cy="1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8E1"/>
                </a:solidFill>
                <a:latin typeface="Arial Black"/>
              </a:rPr>
              <a:t>THE K-BEAUTY
REVOLUTION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0000" y="3000000"/>
            <a:ext cx="3200000" cy="365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000"/>
            <a:ext cx="103632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How Korea Redefined Skincare for the World</a:t>
            </a:r>
          </a:p>
        </p:txBody>
      </p:sp>
      <p:sp>
        <p:nvSpPr>
          <p:cNvPr id="7" name="Diamond 6"/>
          <p:cNvSpPr/>
          <p:nvPr/>
        </p:nvSpPr>
        <p:spPr>
          <a:xfrm>
            <a:off x="3000000" y="5800000"/>
            <a:ext cx="150000" cy="150000"/>
          </a:xfrm>
          <a:prstGeom prst="diamond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5800000" y="5800000"/>
            <a:ext cx="150000" cy="150000"/>
          </a:xfrm>
          <a:prstGeom prst="diamond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8600000" y="5800000"/>
            <a:ext cx="150000" cy="150000"/>
          </a:xfrm>
          <a:prstGeom prst="diamond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200000"/>
            <a:ext cx="103632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8080AA"/>
                </a:solidFill>
                <a:latin typeface="Calibri"/>
              </a:rPr>
              <a:t>MARKET ANALYSIS  |  2025</a:t>
            </a:r>
          </a:p>
        </p:txBody>
      </p:sp>
    </p:spTree>
    <p:bgPr>
      <a:gradFill>
        <a:gsLst>
          <a:gs pos="0">
            <a:srgbClr val="1A1A40"/>
          </a:gs>
          <a:gs pos="100000">
            <a:srgbClr val="0D0D2B"/>
          </a:gs>
        </a:gsLst>
        <a:lin ang="5400000" scaled="1"/>
      </a:gradFill>
      <a:effectLst/>
    </p:bgPr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15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FF8E1"/>
                </a:solidFill>
                <a:latin typeface="Arial Black"/>
              </a:rPr>
              <a:t>THE 10-STEP ROUTINE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00000" y="620000"/>
            <a:ext cx="2600000" cy="365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00000" y="800000"/>
            <a:ext cx="9200000" cy="450000"/>
          </a:xfrm>
          <a:prstGeom prst="roundRect">
            <a:avLst>
              <a:gd name="adj" fmla="val 8000"/>
            </a:avLst>
          </a:prstGeom>
          <a:solidFill>
            <a:srgbClr val="2A2A5A">
              <a:alpha val="60000"/>
            </a:srgbClr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00000" y="870000"/>
            <a:ext cx="8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  <a:r>
              <a:rPr sz="2000" b="1">
                <a:solidFill>
                  <a:srgbClr val="FFB300"/>
                </a:solidFill>
                <a:latin typeface="Arial Black"/>
              </a:rPr>
              <a:t>92%</a:t>
            </a:r>
            <a:r>
              <a:rPr sz="1400">
                <a:solidFill>
                  <a:srgbClr val="FFFFFF"/>
                </a:solidFill>
                <a:latin typeface="Calibri"/>
              </a:rPr>
              <a:t> of Korean women follow multi-step vs </a:t>
            </a:r>
            <a:r>
              <a:rPr sz="2000" b="1">
                <a:solidFill>
                  <a:srgbClr val="FFB300"/>
                </a:solidFill>
                <a:latin typeface="Arial Black"/>
              </a:rPr>
              <a:t>35%</a:t>
            </a:r>
            <a:r>
              <a:rPr sz="1400">
                <a:solidFill>
                  <a:srgbClr val="FFFFFF"/>
                </a:solidFill>
                <a:latin typeface="Calibri"/>
              </a:rPr>
              <a:t> in the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00" y="1450000"/>
            <a:ext cx="5500000" cy="5150000"/>
          </a:xfrm>
          <a:prstGeom prst="roundRect">
            <a:avLst>
              <a:gd name="adj" fmla="val 8000"/>
            </a:avLst>
          </a:prstGeom>
          <a:solidFill>
            <a:srgbClr val="2A2A5A">
              <a:alpha val="60000"/>
            </a:srgbClr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0000" y="1450000"/>
            <a:ext cx="5500000" cy="420000"/>
          </a:xfrm>
          <a:prstGeom prst="roundRect">
            <a:avLst>
              <a:gd name="adj" fmla="val 8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0000" y="1650000"/>
            <a:ext cx="5500000" cy="220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00" y="1490000"/>
            <a:ext cx="51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MORNING</a:t>
            </a:r>
          </a:p>
        </p:txBody>
      </p:sp>
      <p:sp>
        <p:nvSpPr>
          <p:cNvPr id="10" name="Diamond 9"/>
          <p:cNvSpPr/>
          <p:nvPr/>
        </p:nvSpPr>
        <p:spPr>
          <a:xfrm>
            <a:off x="650000" y="2090000"/>
            <a:ext cx="130000" cy="130000"/>
          </a:xfrm>
          <a:prstGeom prst="diamond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206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1.  Oil Cleanser</a:t>
            </a:r>
          </a:p>
        </p:txBody>
      </p:sp>
      <p:sp>
        <p:nvSpPr>
          <p:cNvPr id="12" name="Diamond 11"/>
          <p:cNvSpPr/>
          <p:nvPr/>
        </p:nvSpPr>
        <p:spPr>
          <a:xfrm>
            <a:off x="650000" y="2430000"/>
            <a:ext cx="130000" cy="130000"/>
          </a:xfrm>
          <a:prstGeom prst="diamond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240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2.  Water Cleanser</a:t>
            </a:r>
          </a:p>
        </p:txBody>
      </p:sp>
      <p:sp>
        <p:nvSpPr>
          <p:cNvPr id="14" name="Diamond 13"/>
          <p:cNvSpPr/>
          <p:nvPr/>
        </p:nvSpPr>
        <p:spPr>
          <a:xfrm>
            <a:off x="650000" y="2770000"/>
            <a:ext cx="130000" cy="130000"/>
          </a:xfrm>
          <a:prstGeom prst="diamond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274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3.  Toner</a:t>
            </a:r>
          </a:p>
        </p:txBody>
      </p:sp>
      <p:sp>
        <p:nvSpPr>
          <p:cNvPr id="16" name="Diamond 15"/>
          <p:cNvSpPr/>
          <p:nvPr/>
        </p:nvSpPr>
        <p:spPr>
          <a:xfrm>
            <a:off x="650000" y="3110000"/>
            <a:ext cx="130000" cy="130000"/>
          </a:xfrm>
          <a:prstGeom prst="diamond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308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4.  Essence</a:t>
            </a:r>
          </a:p>
        </p:txBody>
      </p:sp>
      <p:sp>
        <p:nvSpPr>
          <p:cNvPr id="18" name="Diamond 17"/>
          <p:cNvSpPr/>
          <p:nvPr/>
        </p:nvSpPr>
        <p:spPr>
          <a:xfrm>
            <a:off x="650000" y="3450000"/>
            <a:ext cx="130000" cy="130000"/>
          </a:xfrm>
          <a:prstGeom prst="diamond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342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5.  Serum</a:t>
            </a:r>
          </a:p>
        </p:txBody>
      </p:sp>
      <p:sp>
        <p:nvSpPr>
          <p:cNvPr id="20" name="Diamond 19"/>
          <p:cNvSpPr/>
          <p:nvPr/>
        </p:nvSpPr>
        <p:spPr>
          <a:xfrm>
            <a:off x="650000" y="3790000"/>
            <a:ext cx="130000" cy="130000"/>
          </a:xfrm>
          <a:prstGeom prst="diamond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376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6.  Eye Cream</a:t>
            </a:r>
          </a:p>
        </p:txBody>
      </p:sp>
      <p:sp>
        <p:nvSpPr>
          <p:cNvPr id="22" name="Diamond 21"/>
          <p:cNvSpPr/>
          <p:nvPr/>
        </p:nvSpPr>
        <p:spPr>
          <a:xfrm>
            <a:off x="650000" y="4130000"/>
            <a:ext cx="130000" cy="130000"/>
          </a:xfrm>
          <a:prstGeom prst="diamond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000" y="410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7.  Moisturizer</a:t>
            </a:r>
          </a:p>
        </p:txBody>
      </p:sp>
      <p:sp>
        <p:nvSpPr>
          <p:cNvPr id="24" name="Diamond 23"/>
          <p:cNvSpPr/>
          <p:nvPr/>
        </p:nvSpPr>
        <p:spPr>
          <a:xfrm>
            <a:off x="650000" y="4470000"/>
            <a:ext cx="130000" cy="130000"/>
          </a:xfrm>
          <a:prstGeom prst="diamond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000" y="444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8.  SPF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0000" y="1450000"/>
            <a:ext cx="5500000" cy="5150000"/>
          </a:xfrm>
          <a:prstGeom prst="roundRect">
            <a:avLst>
              <a:gd name="adj" fmla="val 8000"/>
            </a:avLst>
          </a:prstGeom>
          <a:solidFill>
            <a:srgbClr val="2A2A5A">
              <a:alpha val="60000"/>
            </a:srgbClr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00000" y="1450000"/>
            <a:ext cx="5500000" cy="420000"/>
          </a:xfrm>
          <a:prstGeom prst="roundRect">
            <a:avLst>
              <a:gd name="adj" fmla="val 8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0000" y="1650000"/>
            <a:ext cx="5500000" cy="220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0000" y="1490000"/>
            <a:ext cx="51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NIGHT</a:t>
            </a:r>
          </a:p>
        </p:txBody>
      </p:sp>
      <p:sp>
        <p:nvSpPr>
          <p:cNvPr id="30" name="Diamond 29"/>
          <p:cNvSpPr/>
          <p:nvPr/>
        </p:nvSpPr>
        <p:spPr>
          <a:xfrm>
            <a:off x="6550000" y="2090000"/>
            <a:ext cx="130000" cy="130000"/>
          </a:xfrm>
          <a:prstGeom prst="diamond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00000" y="206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1.  Double Cleanse</a:t>
            </a:r>
          </a:p>
        </p:txBody>
      </p:sp>
      <p:sp>
        <p:nvSpPr>
          <p:cNvPr id="32" name="Diamond 31"/>
          <p:cNvSpPr/>
          <p:nvPr/>
        </p:nvSpPr>
        <p:spPr>
          <a:xfrm>
            <a:off x="6550000" y="2430000"/>
            <a:ext cx="130000" cy="130000"/>
          </a:xfrm>
          <a:prstGeom prst="diamond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00000" y="240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2.  Exfoliant</a:t>
            </a:r>
          </a:p>
        </p:txBody>
      </p:sp>
      <p:sp>
        <p:nvSpPr>
          <p:cNvPr id="34" name="Diamond 33"/>
          <p:cNvSpPr/>
          <p:nvPr/>
        </p:nvSpPr>
        <p:spPr>
          <a:xfrm>
            <a:off x="6550000" y="2770000"/>
            <a:ext cx="130000" cy="130000"/>
          </a:xfrm>
          <a:prstGeom prst="diamond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0000" y="274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3.  Toner</a:t>
            </a:r>
          </a:p>
        </p:txBody>
      </p:sp>
      <p:sp>
        <p:nvSpPr>
          <p:cNvPr id="36" name="Diamond 35"/>
          <p:cNvSpPr/>
          <p:nvPr/>
        </p:nvSpPr>
        <p:spPr>
          <a:xfrm>
            <a:off x="6550000" y="3110000"/>
            <a:ext cx="130000" cy="130000"/>
          </a:xfrm>
          <a:prstGeom prst="diamond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00000" y="308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4.  Essence</a:t>
            </a:r>
          </a:p>
        </p:txBody>
      </p:sp>
      <p:sp>
        <p:nvSpPr>
          <p:cNvPr id="38" name="Diamond 37"/>
          <p:cNvSpPr/>
          <p:nvPr/>
        </p:nvSpPr>
        <p:spPr>
          <a:xfrm>
            <a:off x="6550000" y="3450000"/>
            <a:ext cx="130000" cy="130000"/>
          </a:xfrm>
          <a:prstGeom prst="diamond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00000" y="342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5.  Ampoule</a:t>
            </a:r>
          </a:p>
        </p:txBody>
      </p:sp>
      <p:sp>
        <p:nvSpPr>
          <p:cNvPr id="40" name="Diamond 39"/>
          <p:cNvSpPr/>
          <p:nvPr/>
        </p:nvSpPr>
        <p:spPr>
          <a:xfrm>
            <a:off x="6550000" y="3790000"/>
            <a:ext cx="130000" cy="130000"/>
          </a:xfrm>
          <a:prstGeom prst="diamond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0000" y="376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6.  Sheet Mask</a:t>
            </a:r>
          </a:p>
        </p:txBody>
      </p:sp>
      <p:sp>
        <p:nvSpPr>
          <p:cNvPr id="42" name="Diamond 41"/>
          <p:cNvSpPr/>
          <p:nvPr/>
        </p:nvSpPr>
        <p:spPr>
          <a:xfrm>
            <a:off x="6550000" y="4130000"/>
            <a:ext cx="130000" cy="130000"/>
          </a:xfrm>
          <a:prstGeom prst="diamond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00000" y="410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7.  Eye Cream</a:t>
            </a:r>
          </a:p>
        </p:txBody>
      </p:sp>
      <p:sp>
        <p:nvSpPr>
          <p:cNvPr id="44" name="Diamond 43"/>
          <p:cNvSpPr/>
          <p:nvPr/>
        </p:nvSpPr>
        <p:spPr>
          <a:xfrm>
            <a:off x="6550000" y="4470000"/>
            <a:ext cx="130000" cy="130000"/>
          </a:xfrm>
          <a:prstGeom prst="diamond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00000" y="4440000"/>
            <a:ext cx="4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8.  Night Cream</a:t>
            </a:r>
          </a:p>
        </p:txBody>
      </p:sp>
    </p:spTree>
    <p:bgPr>
      <a:gradFill>
        <a:gsLst>
          <a:gs pos="0">
            <a:srgbClr val="1A1A40"/>
          </a:gs>
          <a:gs pos="100000">
            <a:srgbClr val="1A1A2E"/>
          </a:gs>
        </a:gsLst>
        <a:lin ang="5400000" scaled="1"/>
      </a:gradFill>
      <a:effectLst/>
    </p:bgPr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15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FF8E1"/>
                </a:solidFill>
                <a:latin typeface="Arial Black"/>
              </a:rPr>
              <a:t>HERO INGREDIENTS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800000" y="620000"/>
            <a:ext cx="2600000" cy="36576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0000" y="850000"/>
            <a:ext cx="3600000" cy="2200000"/>
          </a:xfrm>
          <a:prstGeom prst="roundRect">
            <a:avLst>
              <a:gd name="adj" fmla="val 8000"/>
            </a:avLst>
          </a:prstGeom>
          <a:solidFill>
            <a:srgbClr val="2A2A5A">
              <a:alpha val="60000"/>
            </a:srgbClr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0000" y="850000"/>
            <a:ext cx="36000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00" y="1000000"/>
            <a:ext cx="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E88E5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1500000"/>
            <a:ext cx="3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8E1"/>
                </a:solidFill>
                <a:latin typeface="Arial Black"/>
              </a:rPr>
              <a:t>Snail Mucin</a:t>
            </a:r>
          </a:p>
        </p:txBody>
      </p:sp>
      <p:sp>
        <p:nvSpPr>
          <p:cNvPr id="8" name="Diamond 7"/>
          <p:cNvSpPr/>
          <p:nvPr/>
        </p:nvSpPr>
        <p:spPr>
          <a:xfrm>
            <a:off x="600000" y="2050000"/>
            <a:ext cx="100000" cy="100000"/>
          </a:xfrm>
          <a:prstGeom prst="diamond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00" y="2030000"/>
            <a:ext cx="3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Hydration + repair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0000" y="850000"/>
            <a:ext cx="3600000" cy="2200000"/>
          </a:xfrm>
          <a:prstGeom prst="roundRect">
            <a:avLst>
              <a:gd name="adj" fmla="val 8000"/>
            </a:avLst>
          </a:prstGeom>
          <a:solidFill>
            <a:srgbClr val="2A2A5A">
              <a:alpha val="60000"/>
            </a:srgbClr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0000" y="850000"/>
            <a:ext cx="3600000" cy="36576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0000" y="1000000"/>
            <a:ext cx="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E91E63"/>
                </a:solidFill>
                <a:latin typeface="Arial Blac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0000" y="1500000"/>
            <a:ext cx="3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8E1"/>
                </a:solidFill>
                <a:latin typeface="Arial Black"/>
              </a:rPr>
              <a:t>Niacinamide</a:t>
            </a:r>
          </a:p>
        </p:txBody>
      </p:sp>
      <p:sp>
        <p:nvSpPr>
          <p:cNvPr id="14" name="Diamond 13"/>
          <p:cNvSpPr/>
          <p:nvPr/>
        </p:nvSpPr>
        <p:spPr>
          <a:xfrm>
            <a:off x="4400000" y="2050000"/>
            <a:ext cx="100000" cy="100000"/>
          </a:xfrm>
          <a:prstGeom prst="diamond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0000" y="2030000"/>
            <a:ext cx="3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Brightening + pore care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0000" y="850000"/>
            <a:ext cx="3600000" cy="2200000"/>
          </a:xfrm>
          <a:prstGeom prst="roundRect">
            <a:avLst>
              <a:gd name="adj" fmla="val 8000"/>
            </a:avLst>
          </a:prstGeom>
          <a:solidFill>
            <a:srgbClr val="2A2A5A">
              <a:alpha val="60000"/>
            </a:srgbClr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0000" y="850000"/>
            <a:ext cx="3600000" cy="365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0000" y="1000000"/>
            <a:ext cx="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B300"/>
                </a:solidFill>
                <a:latin typeface="Arial Blac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0000" y="1500000"/>
            <a:ext cx="3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8E1"/>
                </a:solidFill>
                <a:latin typeface="Arial Black"/>
              </a:rPr>
              <a:t>Centella Asiatica</a:t>
            </a:r>
          </a:p>
        </p:txBody>
      </p:sp>
      <p:sp>
        <p:nvSpPr>
          <p:cNvPr id="20" name="Diamond 19"/>
          <p:cNvSpPr/>
          <p:nvPr/>
        </p:nvSpPr>
        <p:spPr>
          <a:xfrm>
            <a:off x="8200000" y="2050000"/>
            <a:ext cx="100000" cy="100000"/>
          </a:xfrm>
          <a:prstGeom prst="diamond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0000" y="2030000"/>
            <a:ext cx="3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Calming + anti-inflammatory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00000" y="3300000"/>
            <a:ext cx="4000000" cy="2200000"/>
          </a:xfrm>
          <a:prstGeom prst="roundRect">
            <a:avLst>
              <a:gd name="adj" fmla="val 8000"/>
            </a:avLst>
          </a:prstGeom>
          <a:solidFill>
            <a:srgbClr val="2A2A5A">
              <a:alpha val="60000"/>
            </a:srgbClr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00000" y="3300000"/>
            <a:ext cx="40000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00000" y="3450000"/>
            <a:ext cx="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E88E5"/>
                </a:solidFill>
                <a:latin typeface="Arial Black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0000" y="3950000"/>
            <a:ext cx="3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8E1"/>
                </a:solidFill>
                <a:latin typeface="Arial Black"/>
              </a:rPr>
              <a:t>Rice Extract</a:t>
            </a:r>
          </a:p>
        </p:txBody>
      </p:sp>
      <p:sp>
        <p:nvSpPr>
          <p:cNvPr id="26" name="Diamond 25"/>
          <p:cNvSpPr/>
          <p:nvPr/>
        </p:nvSpPr>
        <p:spPr>
          <a:xfrm>
            <a:off x="2000000" y="4500000"/>
            <a:ext cx="100000" cy="100000"/>
          </a:xfrm>
          <a:prstGeom prst="diamond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00000" y="4480000"/>
            <a:ext cx="34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Even skin tone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000" y="3300000"/>
            <a:ext cx="4000000" cy="2200000"/>
          </a:xfrm>
          <a:prstGeom prst="roundRect">
            <a:avLst>
              <a:gd name="adj" fmla="val 8000"/>
            </a:avLst>
          </a:prstGeom>
          <a:solidFill>
            <a:srgbClr val="2A2A5A">
              <a:alpha val="60000"/>
            </a:srgbClr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000" y="3300000"/>
            <a:ext cx="4000000" cy="36576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50000"/>
            <a:ext cx="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E91E63"/>
                </a:solidFill>
                <a:latin typeface="Arial Black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0000" y="3950000"/>
            <a:ext cx="3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8E1"/>
                </a:solidFill>
                <a:latin typeface="Arial Black"/>
              </a:rPr>
              <a:t>Propolis</a:t>
            </a:r>
          </a:p>
        </p:txBody>
      </p:sp>
      <p:sp>
        <p:nvSpPr>
          <p:cNvPr id="32" name="Diamond 31"/>
          <p:cNvSpPr/>
          <p:nvPr/>
        </p:nvSpPr>
        <p:spPr>
          <a:xfrm>
            <a:off x="6600000" y="4500000"/>
            <a:ext cx="100000" cy="100000"/>
          </a:xfrm>
          <a:prstGeom prst="diamond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00000" y="4480000"/>
            <a:ext cx="34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Antibacterial + glow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00000" y="5700000"/>
            <a:ext cx="9800000" cy="500000"/>
          </a:xfrm>
          <a:prstGeom prst="roundRect">
            <a:avLst>
              <a:gd name="adj" fmla="val 8000"/>
            </a:avLst>
          </a:prstGeom>
          <a:solidFill>
            <a:srgbClr val="2A2A5A">
              <a:alpha val="60000"/>
            </a:srgbClr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00000" y="5770000"/>
            <a:ext cx="9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  <a:r>
              <a:rPr sz="2000" b="1">
                <a:solidFill>
                  <a:srgbClr val="FFB300"/>
                </a:solidFill>
                <a:latin typeface="Arial Black"/>
              </a:rPr>
              <a:t>$13.2B</a:t>
            </a:r>
            <a:r>
              <a:rPr sz="1400">
                <a:solidFill>
                  <a:srgbClr val="FFFFFF"/>
                </a:solidFill>
                <a:latin typeface="Calibri"/>
              </a:rPr>
              <a:t> in 2025  →  </a:t>
            </a:r>
            <a:r>
              <a:rPr sz="2000" b="1">
                <a:solidFill>
                  <a:srgbClr val="FFB300"/>
                </a:solidFill>
                <a:latin typeface="Arial Black"/>
              </a:rPr>
              <a:t>$21.8B</a:t>
            </a:r>
            <a:r>
              <a:rPr sz="1400">
                <a:solidFill>
                  <a:srgbClr val="FFFFFF"/>
                </a:solidFill>
                <a:latin typeface="Calibri"/>
              </a:rPr>
              <a:t> by 2030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6350000"/>
            <a:ext cx="110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8080AA"/>
                </a:solidFill>
                <a:latin typeface="Calibri"/>
              </a:rPr>
              <a:t>Source: Statista, Grand View Research</a:t>
            </a:r>
          </a:p>
        </p:txBody>
      </p:sp>
    </p:spTree>
    <p:bgPr>
      <a:gradFill>
        <a:gsLst>
          <a:gs pos="0">
            <a:srgbClr val="1A1A40"/>
          </a:gs>
          <a:gs pos="100000">
            <a:srgbClr val="0D0D2B"/>
          </a:gs>
        </a:gsLst>
        <a:lin ang="5400000" scaled="1"/>
      </a:gradFill>
      <a:effectLst/>
    </p:bgPr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15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FF8E1"/>
                </a:solidFill>
                <a:latin typeface="Arial Black"/>
              </a:rPr>
              <a:t>GLOBAL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800000" y="620000"/>
            <a:ext cx="26000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0000" y="900000"/>
            <a:ext cx="3600000" cy="2400000"/>
          </a:xfrm>
          <a:prstGeom prst="roundRect">
            <a:avLst>
              <a:gd name="adj" fmla="val 8000"/>
            </a:avLst>
          </a:prstGeom>
          <a:solidFill>
            <a:srgbClr val="2A2A5A">
              <a:alpha val="60000"/>
            </a:srgbClr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0000" y="900000"/>
            <a:ext cx="36000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00" y="1100000"/>
            <a:ext cx="32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>
                <a:solidFill>
                  <a:srgbClr val="1E88E5"/>
                </a:solidFill>
                <a:latin typeface="Arial Black"/>
              </a:rPr>
              <a:t>$13.2B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1800000"/>
            <a:ext cx="3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8E1"/>
                </a:solidFill>
                <a:latin typeface="Arial Black"/>
              </a:rPr>
              <a:t>Market Size</a:t>
            </a:r>
          </a:p>
        </p:txBody>
      </p:sp>
      <p:sp>
        <p:nvSpPr>
          <p:cNvPr id="8" name="Diamond 7"/>
          <p:cNvSpPr/>
          <p:nvPr/>
        </p:nvSpPr>
        <p:spPr>
          <a:xfrm>
            <a:off x="2150000" y="2300000"/>
            <a:ext cx="100000" cy="100000"/>
          </a:xfrm>
          <a:prstGeom prst="diamond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00" y="2500000"/>
            <a:ext cx="32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2,800+ brands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0000" y="900000"/>
            <a:ext cx="3600000" cy="2400000"/>
          </a:xfrm>
          <a:prstGeom prst="roundRect">
            <a:avLst>
              <a:gd name="adj" fmla="val 8000"/>
            </a:avLst>
          </a:prstGeom>
          <a:solidFill>
            <a:srgbClr val="2A2A5A">
              <a:alpha val="60000"/>
            </a:srgbClr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0000" y="900000"/>
            <a:ext cx="3600000" cy="36576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0000" y="1100000"/>
            <a:ext cx="32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>
                <a:solidFill>
                  <a:srgbClr val="E91E63"/>
                </a:solidFill>
                <a:latin typeface="Arial Black"/>
              </a:rPr>
              <a:t>400%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0000" y="1800000"/>
            <a:ext cx="3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8E1"/>
                </a:solidFill>
                <a:latin typeface="Arial Black"/>
              </a:rPr>
              <a:t>Import Growth</a:t>
            </a:r>
          </a:p>
        </p:txBody>
      </p:sp>
      <p:sp>
        <p:nvSpPr>
          <p:cNvPr id="14" name="Diamond 13"/>
          <p:cNvSpPr/>
          <p:nvPr/>
        </p:nvSpPr>
        <p:spPr>
          <a:xfrm>
            <a:off x="5950000" y="2300000"/>
            <a:ext cx="100000" cy="100000"/>
          </a:xfrm>
          <a:prstGeom prst="diamond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0000" y="2500000"/>
            <a:ext cx="32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US since 2015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0000" y="900000"/>
            <a:ext cx="3600000" cy="2400000"/>
          </a:xfrm>
          <a:prstGeom prst="roundRect">
            <a:avLst>
              <a:gd name="adj" fmla="val 8000"/>
            </a:avLst>
          </a:prstGeom>
          <a:solidFill>
            <a:srgbClr val="2A2A5A">
              <a:alpha val="60000"/>
            </a:srgbClr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0000" y="900000"/>
            <a:ext cx="3600000" cy="365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0000" y="1100000"/>
            <a:ext cx="32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>
                <a:solidFill>
                  <a:srgbClr val="FFB300"/>
                </a:solidFill>
                <a:latin typeface="Arial Black"/>
              </a:rPr>
              <a:t>48B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0000" y="1800000"/>
            <a:ext cx="3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8E1"/>
                </a:solidFill>
                <a:latin typeface="Arial Black"/>
              </a:rPr>
              <a:t>TikTok Views</a:t>
            </a:r>
          </a:p>
        </p:txBody>
      </p:sp>
      <p:sp>
        <p:nvSpPr>
          <p:cNvPr id="20" name="Diamond 19"/>
          <p:cNvSpPr/>
          <p:nvPr/>
        </p:nvSpPr>
        <p:spPr>
          <a:xfrm>
            <a:off x="9750000" y="2300000"/>
            <a:ext cx="100000" cy="100000"/>
          </a:xfrm>
          <a:prstGeom prst="diamond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0000" y="2500000"/>
            <a:ext cx="32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#KBeauty global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00000" y="3550000"/>
            <a:ext cx="4000000" cy="2400000"/>
          </a:xfrm>
          <a:prstGeom prst="roundRect">
            <a:avLst>
              <a:gd name="adj" fmla="val 8000"/>
            </a:avLst>
          </a:prstGeom>
          <a:solidFill>
            <a:srgbClr val="2A2A5A">
              <a:alpha val="60000"/>
            </a:srgbClr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00000" y="3550000"/>
            <a:ext cx="40000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00000" y="3750000"/>
            <a:ext cx="36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>
                <a:solidFill>
                  <a:srgbClr val="1E88E5"/>
                </a:solidFill>
                <a:latin typeface="Arial Black"/>
              </a:rPr>
              <a:t>$230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0000" y="4450000"/>
            <a:ext cx="3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8E1"/>
                </a:solidFill>
                <a:latin typeface="Arial Black"/>
              </a:rPr>
              <a:t>Annual Spend</a:t>
            </a:r>
          </a:p>
        </p:txBody>
      </p:sp>
      <p:sp>
        <p:nvSpPr>
          <p:cNvPr id="26" name="Diamond 25"/>
          <p:cNvSpPr/>
          <p:nvPr/>
        </p:nvSpPr>
        <p:spPr>
          <a:xfrm>
            <a:off x="3600000" y="4950000"/>
            <a:ext cx="100000" cy="100000"/>
          </a:xfrm>
          <a:prstGeom prst="diamond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0000" y="5150000"/>
            <a:ext cx="36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Korea per capita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000" y="3550000"/>
            <a:ext cx="4000000" cy="2400000"/>
          </a:xfrm>
          <a:prstGeom prst="roundRect">
            <a:avLst>
              <a:gd name="adj" fmla="val 8000"/>
            </a:avLst>
          </a:prstGeom>
          <a:solidFill>
            <a:srgbClr val="2A2A5A">
              <a:alpha val="60000"/>
            </a:srgbClr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000" y="3550000"/>
            <a:ext cx="4000000" cy="36576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750000"/>
            <a:ext cx="36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>
                <a:solidFill>
                  <a:srgbClr val="E91E63"/>
                </a:solidFill>
                <a:latin typeface="Arial Black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0000" y="4450000"/>
            <a:ext cx="3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8E1"/>
                </a:solidFill>
                <a:latin typeface="Arial Black"/>
              </a:rPr>
              <a:t>Top Markets</a:t>
            </a:r>
          </a:p>
        </p:txBody>
      </p:sp>
      <p:sp>
        <p:nvSpPr>
          <p:cNvPr id="32" name="Diamond 31"/>
          <p:cNvSpPr/>
          <p:nvPr/>
        </p:nvSpPr>
        <p:spPr>
          <a:xfrm>
            <a:off x="8200000" y="4950000"/>
            <a:ext cx="100000" cy="100000"/>
          </a:xfrm>
          <a:prstGeom prst="diamond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0000" y="5150000"/>
            <a:ext cx="36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CN, US, JP, SEA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6300000"/>
            <a:ext cx="110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8080AA"/>
                </a:solidFill>
                <a:latin typeface="Calibri"/>
              </a:rPr>
              <a:t>Source: Statista, Korea Customs, TikTok Analytics</a:t>
            </a:r>
          </a:p>
        </p:txBody>
      </p:sp>
    </p:spTree>
    <p:bgPr>
      <a:gradFill>
        <a:gsLst>
          <a:gs pos="0">
            <a:srgbClr val="1A1A40"/>
          </a:gs>
          <a:gs pos="100000">
            <a:srgbClr val="1A1A2E"/>
          </a:gs>
        </a:gsLst>
        <a:lin ang="5400000" scaled="1"/>
      </a:gradFill>
      <a:effectLst/>
    </p:bgPr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500000" y="500000"/>
            <a:ext cx="3000000" cy="27432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0000000" y="6000000"/>
            <a:ext cx="3000000" cy="2743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00000"/>
            <a:ext cx="103632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8E1"/>
                </a:solidFill>
                <a:latin typeface="Arial Black"/>
              </a:rPr>
              <a:t>YOUR SKIN,
YOUR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0000" y="3100000"/>
            <a:ext cx="3200000" cy="365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00000"/>
            <a:ext cx="103632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The future of beauty is personal, science-driven, and inclusive</a:t>
            </a:r>
          </a:p>
        </p:txBody>
      </p:sp>
      <p:sp>
        <p:nvSpPr>
          <p:cNvPr id="7" name="Diamond 6"/>
          <p:cNvSpPr/>
          <p:nvPr/>
        </p:nvSpPr>
        <p:spPr>
          <a:xfrm>
            <a:off x="3000000" y="5800000"/>
            <a:ext cx="150000" cy="150000"/>
          </a:xfrm>
          <a:prstGeom prst="diamond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5800000" y="5800000"/>
            <a:ext cx="150000" cy="150000"/>
          </a:xfrm>
          <a:prstGeom prst="diamond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8600000" y="5800000"/>
            <a:ext cx="150000" cy="150000"/>
          </a:xfrm>
          <a:prstGeom prst="diamond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200000"/>
            <a:ext cx="103632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8080AA"/>
                </a:solidFill>
                <a:latin typeface="Calibri"/>
              </a:rPr>
              <a:t>K-BEAUTY MARKET ANALYSIS  |  2025</a:t>
            </a:r>
          </a:p>
        </p:txBody>
      </p:sp>
    </p:spTree>
    <p:bgPr>
      <a:gradFill>
        <a:gsLst>
          <a:gs pos="0">
            <a:srgbClr val="1A1A40"/>
          </a:gs>
          <a:gs pos="100000">
            <a:srgbClr val="0D0D2B"/>
          </a:gs>
        </a:gsLst>
        <a:lin ang="5400000" scaled="1"/>
      </a:gradFill>
      <a:effectLst/>
    </p:bgPr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