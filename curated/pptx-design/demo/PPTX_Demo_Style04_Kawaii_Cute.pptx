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D6E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300000" y="-300000"/>
            <a:ext cx="900000" cy="900000"/>
          </a:xfrm>
          <a:prstGeom prst="ellipse">
            <a:avLst/>
          </a:prstGeom>
          <a:solidFill>
            <a:srgbClr val="FFAB91">
              <a:alpha val="6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1200000" y="-400000"/>
            <a:ext cx="1000000" cy="1000000"/>
          </a:xfrm>
          <a:prstGeom prst="ellipse">
            <a:avLst/>
          </a:prstGeom>
          <a:solidFill>
            <a:srgbClr val="81D4FA">
              <a:alpha val="6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200000" y="5800000"/>
            <a:ext cx="800000" cy="800000"/>
          </a:xfrm>
          <a:prstGeom prst="ellipse">
            <a:avLst/>
          </a:prstGeom>
          <a:solidFill>
            <a:srgbClr val="FFF59D">
              <a:alpha val="6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1500000" y="5500000"/>
            <a:ext cx="900000" cy="900000"/>
          </a:xfrm>
          <a:prstGeom prst="ellipse">
            <a:avLst/>
          </a:prstGeom>
          <a:solidFill>
            <a:srgbClr val="E8D5F5">
              <a:alpha val="6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5500000" y="-500000"/>
            <a:ext cx="700000" cy="700000"/>
          </a:xfrm>
          <a:prstGeom prst="ellipse">
            <a:avLst/>
          </a:prstGeom>
          <a:solidFill>
            <a:srgbClr val="D5F5E3">
              <a:alpha val="6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500000" y="1600000"/>
            <a:ext cx="9200000" cy="3600000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00000" y="1900000"/>
            <a:ext cx="8600000" cy="900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3800" b="1">
                <a:solidFill>
                  <a:srgbClr val="4A2040"/>
                </a:solidFill>
                <a:latin typeface="Calibri"/>
              </a:rPr>
              <a:t>The K-Beauty Revolution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00000" y="2800000"/>
            <a:ext cx="3200000" cy="70000"/>
          </a:xfrm>
          <a:prstGeom prst="roundRect">
            <a:avLst>
              <a:gd name="adj" fmla="val 50000"/>
            </a:avLst>
          </a:prstGeom>
          <a:solidFill>
            <a:srgbClr val="FFA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800000" y="3100000"/>
            <a:ext cx="8600000" cy="500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2000" b="0">
                <a:solidFill>
                  <a:srgbClr val="4A2040"/>
                </a:solidFill>
                <a:latin typeface="Calibri"/>
              </a:rPr>
              <a:t>How Korea Redefined Skincare for the World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00000" y="3800000"/>
            <a:ext cx="8600000" cy="400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600" b="0">
                <a:solidFill>
                  <a:srgbClr val="8A607A"/>
                </a:solidFill>
                <a:latin typeface="Calibri"/>
              </a:rPr>
              <a:t>Market Analysis  |  2025</a:t>
            </a:r>
          </a:p>
        </p:txBody>
      </p:sp>
      <p:sp>
        <p:nvSpPr>
          <p:cNvPr id="12" name="Oval 11"/>
          <p:cNvSpPr/>
          <p:nvPr/>
        </p:nvSpPr>
        <p:spPr>
          <a:xfrm>
            <a:off x="2200000" y="5600000"/>
            <a:ext cx="200000" cy="200000"/>
          </a:xfrm>
          <a:prstGeom prst="ellipse">
            <a:avLst/>
          </a:prstGeom>
          <a:solidFill>
            <a:srgbClr val="FFAB91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9800000" y="5600000"/>
            <a:ext cx="200000" cy="200000"/>
          </a:xfrm>
          <a:prstGeom prst="ellipse">
            <a:avLst/>
          </a:prstGeom>
          <a:solidFill>
            <a:srgbClr val="81D4FA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8D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1300000" y="-300000"/>
            <a:ext cx="800000" cy="800000"/>
          </a:xfrm>
          <a:prstGeom prst="ellipse">
            <a:avLst/>
          </a:prstGeom>
          <a:solidFill>
            <a:srgbClr val="FFAB91">
              <a:alpha val="6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300000" y="6200000"/>
            <a:ext cx="700000" cy="700000"/>
          </a:xfrm>
          <a:prstGeom prst="ellipse">
            <a:avLst/>
          </a:prstGeom>
          <a:solidFill>
            <a:srgbClr val="81D4FA">
              <a:alpha val="6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71500" y="200000"/>
            <a:ext cx="11000000" cy="500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3000" b="1">
                <a:solidFill>
                  <a:srgbClr val="4A2040"/>
                </a:solidFill>
                <a:latin typeface="Calibri"/>
              </a:rPr>
              <a:t>The 10-Step Routine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800000" y="680000"/>
            <a:ext cx="2600000" cy="57150"/>
          </a:xfrm>
          <a:prstGeom prst="roundRect">
            <a:avLst>
              <a:gd name="adj" fmla="val 50000"/>
            </a:avLst>
          </a:prstGeom>
          <a:solidFill>
            <a:srgbClr val="FFA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500000" y="850000"/>
            <a:ext cx="9200000" cy="450000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700000" y="920000"/>
            <a:ext cx="8800000" cy="350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400" b="0">
                <a:solidFill>
                  <a:srgbClr val="4A2040"/>
                </a:solidFill>
                <a:latin typeface="Calibri"/>
              </a:rPr>
              <a:t/>
            </a:r>
            <a:r>
              <a:rPr sz="1800" b="1">
                <a:solidFill>
                  <a:srgbClr val="FFAB91"/>
                </a:solidFill>
                <a:latin typeface="Calibri"/>
              </a:rPr>
              <a:t>92% </a:t>
            </a:r>
            <a:r>
              <a:rPr sz="1400">
                <a:solidFill>
                  <a:srgbClr val="4A2040"/>
                </a:solidFill>
                <a:latin typeface="Calibri"/>
              </a:rPr>
              <a:t>of Korean women follow multi-step vs </a:t>
            </a:r>
            <a:r>
              <a:rPr sz="1800" b="1">
                <a:solidFill>
                  <a:srgbClr val="FFAB91"/>
                </a:solidFill>
                <a:latin typeface="Calibri"/>
              </a:rPr>
              <a:t>35% </a:t>
            </a:r>
            <a:r>
              <a:rPr sz="1400">
                <a:solidFill>
                  <a:srgbClr val="4A2040"/>
                </a:solidFill>
                <a:latin typeface="Calibri"/>
              </a:rPr>
              <a:t>in the US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00000" y="1500000"/>
            <a:ext cx="5500000" cy="5100000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1900000" y="1600000"/>
            <a:ext cx="2500000" cy="380000"/>
          </a:xfrm>
          <a:prstGeom prst="roundRect">
            <a:avLst>
              <a:gd name="adj" fmla="val 50000"/>
            </a:avLst>
          </a:prstGeom>
          <a:solidFill>
            <a:srgbClr val="FFA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900000" y="1620000"/>
            <a:ext cx="2500000" cy="340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MORNING</a:t>
            </a:r>
          </a:p>
        </p:txBody>
      </p:sp>
      <p:sp>
        <p:nvSpPr>
          <p:cNvPr id="11" name="Oval 10"/>
          <p:cNvSpPr/>
          <p:nvPr/>
        </p:nvSpPr>
        <p:spPr>
          <a:xfrm>
            <a:off x="700000" y="2170000"/>
            <a:ext cx="200000" cy="200000"/>
          </a:xfrm>
          <a:prstGeom prst="ellipse">
            <a:avLst/>
          </a:prstGeom>
          <a:solidFill>
            <a:srgbClr val="FFA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0000" y="2170000"/>
            <a:ext cx="4700000" cy="25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500" b="0">
                <a:solidFill>
                  <a:srgbClr val="4A2040"/>
                </a:solidFill>
                <a:latin typeface="Calibri"/>
              </a:rPr>
              <a:t>1. Oil Cleanser</a:t>
            </a:r>
          </a:p>
        </p:txBody>
      </p:sp>
      <p:sp>
        <p:nvSpPr>
          <p:cNvPr id="13" name="Oval 12"/>
          <p:cNvSpPr/>
          <p:nvPr/>
        </p:nvSpPr>
        <p:spPr>
          <a:xfrm>
            <a:off x="700000" y="2500000"/>
            <a:ext cx="200000" cy="200000"/>
          </a:xfrm>
          <a:prstGeom prst="ellipse">
            <a:avLst/>
          </a:prstGeom>
          <a:solidFill>
            <a:srgbClr val="81D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0000" y="2500000"/>
            <a:ext cx="4700000" cy="25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500" b="0">
                <a:solidFill>
                  <a:srgbClr val="4A2040"/>
                </a:solidFill>
                <a:latin typeface="Calibri"/>
              </a:rPr>
              <a:t>2. Water Cleanser</a:t>
            </a:r>
          </a:p>
        </p:txBody>
      </p:sp>
      <p:sp>
        <p:nvSpPr>
          <p:cNvPr id="15" name="Oval 14"/>
          <p:cNvSpPr/>
          <p:nvPr/>
        </p:nvSpPr>
        <p:spPr>
          <a:xfrm>
            <a:off x="700000" y="2830000"/>
            <a:ext cx="200000" cy="200000"/>
          </a:xfrm>
          <a:prstGeom prst="ellipse">
            <a:avLst/>
          </a:prstGeom>
          <a:solidFill>
            <a:srgbClr val="FFF5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00000" y="2830000"/>
            <a:ext cx="4700000" cy="25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500" b="0">
                <a:solidFill>
                  <a:srgbClr val="4A2040"/>
                </a:solidFill>
                <a:latin typeface="Calibri"/>
              </a:rPr>
              <a:t>3. Toner</a:t>
            </a:r>
          </a:p>
        </p:txBody>
      </p:sp>
      <p:sp>
        <p:nvSpPr>
          <p:cNvPr id="17" name="Oval 16"/>
          <p:cNvSpPr/>
          <p:nvPr/>
        </p:nvSpPr>
        <p:spPr>
          <a:xfrm>
            <a:off x="700000" y="3160000"/>
            <a:ext cx="200000" cy="200000"/>
          </a:xfrm>
          <a:prstGeom prst="ellipse">
            <a:avLst/>
          </a:prstGeom>
          <a:solidFill>
            <a:srgbClr val="D5F5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00000" y="3160000"/>
            <a:ext cx="4700000" cy="25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500" b="0">
                <a:solidFill>
                  <a:srgbClr val="4A2040"/>
                </a:solidFill>
                <a:latin typeface="Calibri"/>
              </a:rPr>
              <a:t>4. Essence</a:t>
            </a:r>
          </a:p>
        </p:txBody>
      </p:sp>
      <p:sp>
        <p:nvSpPr>
          <p:cNvPr id="19" name="Oval 18"/>
          <p:cNvSpPr/>
          <p:nvPr/>
        </p:nvSpPr>
        <p:spPr>
          <a:xfrm>
            <a:off x="700000" y="3490000"/>
            <a:ext cx="200000" cy="200000"/>
          </a:xfrm>
          <a:prstGeom prst="ellipse">
            <a:avLst/>
          </a:prstGeom>
          <a:solidFill>
            <a:srgbClr val="FFA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00000" y="3490000"/>
            <a:ext cx="4700000" cy="25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500" b="0">
                <a:solidFill>
                  <a:srgbClr val="4A2040"/>
                </a:solidFill>
                <a:latin typeface="Calibri"/>
              </a:rPr>
              <a:t>5. Serum</a:t>
            </a:r>
          </a:p>
        </p:txBody>
      </p:sp>
      <p:sp>
        <p:nvSpPr>
          <p:cNvPr id="21" name="Oval 20"/>
          <p:cNvSpPr/>
          <p:nvPr/>
        </p:nvSpPr>
        <p:spPr>
          <a:xfrm>
            <a:off x="700000" y="3820000"/>
            <a:ext cx="200000" cy="200000"/>
          </a:xfrm>
          <a:prstGeom prst="ellipse">
            <a:avLst/>
          </a:prstGeom>
          <a:solidFill>
            <a:srgbClr val="81D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00000" y="3820000"/>
            <a:ext cx="4700000" cy="25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500" b="0">
                <a:solidFill>
                  <a:srgbClr val="4A2040"/>
                </a:solidFill>
                <a:latin typeface="Calibri"/>
              </a:rPr>
              <a:t>6. Eye Cream</a:t>
            </a:r>
          </a:p>
        </p:txBody>
      </p:sp>
      <p:sp>
        <p:nvSpPr>
          <p:cNvPr id="23" name="Oval 22"/>
          <p:cNvSpPr/>
          <p:nvPr/>
        </p:nvSpPr>
        <p:spPr>
          <a:xfrm>
            <a:off x="700000" y="4150000"/>
            <a:ext cx="200000" cy="200000"/>
          </a:xfrm>
          <a:prstGeom prst="ellipse">
            <a:avLst/>
          </a:prstGeom>
          <a:solidFill>
            <a:srgbClr val="FFF5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00000" y="4150000"/>
            <a:ext cx="4700000" cy="25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500" b="0">
                <a:solidFill>
                  <a:srgbClr val="4A2040"/>
                </a:solidFill>
                <a:latin typeface="Calibri"/>
              </a:rPr>
              <a:t>7. Moisturizer</a:t>
            </a:r>
          </a:p>
        </p:txBody>
      </p:sp>
      <p:sp>
        <p:nvSpPr>
          <p:cNvPr id="25" name="Oval 24"/>
          <p:cNvSpPr/>
          <p:nvPr/>
        </p:nvSpPr>
        <p:spPr>
          <a:xfrm>
            <a:off x="700000" y="4480000"/>
            <a:ext cx="200000" cy="200000"/>
          </a:xfrm>
          <a:prstGeom prst="ellipse">
            <a:avLst/>
          </a:prstGeom>
          <a:solidFill>
            <a:srgbClr val="D5F5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00000" y="4480000"/>
            <a:ext cx="4700000" cy="25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500" b="0">
                <a:solidFill>
                  <a:srgbClr val="4A2040"/>
                </a:solidFill>
                <a:latin typeface="Calibri"/>
              </a:rPr>
              <a:t>8. SPF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300000" y="1500000"/>
            <a:ext cx="5500000" cy="5100000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7800000" y="1600000"/>
            <a:ext cx="2500000" cy="380000"/>
          </a:xfrm>
          <a:prstGeom prst="roundRect">
            <a:avLst>
              <a:gd name="adj" fmla="val 50000"/>
            </a:avLst>
          </a:prstGeom>
          <a:solidFill>
            <a:srgbClr val="81D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800000" y="1620000"/>
            <a:ext cx="2500000" cy="340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NIGHT</a:t>
            </a:r>
          </a:p>
        </p:txBody>
      </p:sp>
      <p:sp>
        <p:nvSpPr>
          <p:cNvPr id="30" name="Oval 29"/>
          <p:cNvSpPr/>
          <p:nvPr/>
        </p:nvSpPr>
        <p:spPr>
          <a:xfrm>
            <a:off x="6600000" y="2170000"/>
            <a:ext cx="200000" cy="200000"/>
          </a:xfrm>
          <a:prstGeom prst="ellipse">
            <a:avLst/>
          </a:prstGeom>
          <a:solidFill>
            <a:srgbClr val="81D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900000" y="2170000"/>
            <a:ext cx="4700000" cy="25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500" b="0">
                <a:solidFill>
                  <a:srgbClr val="4A2040"/>
                </a:solidFill>
                <a:latin typeface="Calibri"/>
              </a:rPr>
              <a:t>1. Double Cleanse</a:t>
            </a:r>
          </a:p>
        </p:txBody>
      </p:sp>
      <p:sp>
        <p:nvSpPr>
          <p:cNvPr id="32" name="Oval 31"/>
          <p:cNvSpPr/>
          <p:nvPr/>
        </p:nvSpPr>
        <p:spPr>
          <a:xfrm>
            <a:off x="6600000" y="2500000"/>
            <a:ext cx="200000" cy="200000"/>
          </a:xfrm>
          <a:prstGeom prst="ellipse">
            <a:avLst/>
          </a:prstGeom>
          <a:solidFill>
            <a:srgbClr val="FFA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900000" y="2500000"/>
            <a:ext cx="4700000" cy="25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500" b="0">
                <a:solidFill>
                  <a:srgbClr val="4A2040"/>
                </a:solidFill>
                <a:latin typeface="Calibri"/>
              </a:rPr>
              <a:t>2. Exfoliant</a:t>
            </a:r>
          </a:p>
        </p:txBody>
      </p:sp>
      <p:sp>
        <p:nvSpPr>
          <p:cNvPr id="34" name="Oval 33"/>
          <p:cNvSpPr/>
          <p:nvPr/>
        </p:nvSpPr>
        <p:spPr>
          <a:xfrm>
            <a:off x="6600000" y="2830000"/>
            <a:ext cx="200000" cy="200000"/>
          </a:xfrm>
          <a:prstGeom prst="ellipse">
            <a:avLst/>
          </a:prstGeom>
          <a:solidFill>
            <a:srgbClr val="FFF5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900000" y="2830000"/>
            <a:ext cx="4700000" cy="25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500" b="0">
                <a:solidFill>
                  <a:srgbClr val="4A2040"/>
                </a:solidFill>
                <a:latin typeface="Calibri"/>
              </a:rPr>
              <a:t>3. Toner</a:t>
            </a:r>
          </a:p>
        </p:txBody>
      </p:sp>
      <p:sp>
        <p:nvSpPr>
          <p:cNvPr id="36" name="Oval 35"/>
          <p:cNvSpPr/>
          <p:nvPr/>
        </p:nvSpPr>
        <p:spPr>
          <a:xfrm>
            <a:off x="6600000" y="3160000"/>
            <a:ext cx="200000" cy="200000"/>
          </a:xfrm>
          <a:prstGeom prst="ellipse">
            <a:avLst/>
          </a:prstGeom>
          <a:solidFill>
            <a:srgbClr val="D5F5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900000" y="3160000"/>
            <a:ext cx="4700000" cy="25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500" b="0">
                <a:solidFill>
                  <a:srgbClr val="4A2040"/>
                </a:solidFill>
                <a:latin typeface="Calibri"/>
              </a:rPr>
              <a:t>4. Essence</a:t>
            </a:r>
          </a:p>
        </p:txBody>
      </p:sp>
      <p:sp>
        <p:nvSpPr>
          <p:cNvPr id="38" name="Oval 37"/>
          <p:cNvSpPr/>
          <p:nvPr/>
        </p:nvSpPr>
        <p:spPr>
          <a:xfrm>
            <a:off x="6600000" y="3490000"/>
            <a:ext cx="200000" cy="200000"/>
          </a:xfrm>
          <a:prstGeom prst="ellipse">
            <a:avLst/>
          </a:prstGeom>
          <a:solidFill>
            <a:srgbClr val="81D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900000" y="3490000"/>
            <a:ext cx="4700000" cy="25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500" b="0">
                <a:solidFill>
                  <a:srgbClr val="4A2040"/>
                </a:solidFill>
                <a:latin typeface="Calibri"/>
              </a:rPr>
              <a:t>5. Ampoule</a:t>
            </a:r>
          </a:p>
        </p:txBody>
      </p:sp>
      <p:sp>
        <p:nvSpPr>
          <p:cNvPr id="40" name="Oval 39"/>
          <p:cNvSpPr/>
          <p:nvPr/>
        </p:nvSpPr>
        <p:spPr>
          <a:xfrm>
            <a:off x="6600000" y="3820000"/>
            <a:ext cx="200000" cy="200000"/>
          </a:xfrm>
          <a:prstGeom prst="ellipse">
            <a:avLst/>
          </a:prstGeom>
          <a:solidFill>
            <a:srgbClr val="FFA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900000" y="3820000"/>
            <a:ext cx="4700000" cy="25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500" b="0">
                <a:solidFill>
                  <a:srgbClr val="4A2040"/>
                </a:solidFill>
                <a:latin typeface="Calibri"/>
              </a:rPr>
              <a:t>6. Sheet Mask</a:t>
            </a:r>
          </a:p>
        </p:txBody>
      </p:sp>
      <p:sp>
        <p:nvSpPr>
          <p:cNvPr id="42" name="Oval 41"/>
          <p:cNvSpPr/>
          <p:nvPr/>
        </p:nvSpPr>
        <p:spPr>
          <a:xfrm>
            <a:off x="6600000" y="4150000"/>
            <a:ext cx="200000" cy="200000"/>
          </a:xfrm>
          <a:prstGeom prst="ellipse">
            <a:avLst/>
          </a:prstGeom>
          <a:solidFill>
            <a:srgbClr val="FFF5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900000" y="4150000"/>
            <a:ext cx="4700000" cy="25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500" b="0">
                <a:solidFill>
                  <a:srgbClr val="4A2040"/>
                </a:solidFill>
                <a:latin typeface="Calibri"/>
              </a:rPr>
              <a:t>7. Eye Cream</a:t>
            </a:r>
          </a:p>
        </p:txBody>
      </p:sp>
      <p:sp>
        <p:nvSpPr>
          <p:cNvPr id="44" name="Oval 43"/>
          <p:cNvSpPr/>
          <p:nvPr/>
        </p:nvSpPr>
        <p:spPr>
          <a:xfrm>
            <a:off x="6600000" y="4480000"/>
            <a:ext cx="200000" cy="200000"/>
          </a:xfrm>
          <a:prstGeom prst="ellipse">
            <a:avLst/>
          </a:prstGeom>
          <a:solidFill>
            <a:srgbClr val="D5F5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900000" y="4480000"/>
            <a:ext cx="4700000" cy="25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500" b="0">
                <a:solidFill>
                  <a:srgbClr val="4A2040"/>
                </a:solidFill>
                <a:latin typeface="Calibri"/>
              </a:rPr>
              <a:t>8. Night Cream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D5F5E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200000" y="-200000"/>
            <a:ext cx="700000" cy="700000"/>
          </a:xfrm>
          <a:prstGeom prst="ellipse">
            <a:avLst/>
          </a:prstGeom>
          <a:solidFill>
            <a:srgbClr val="FFF59D">
              <a:alpha val="6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1400000" y="6000000"/>
            <a:ext cx="800000" cy="800000"/>
          </a:xfrm>
          <a:prstGeom prst="ellipse">
            <a:avLst/>
          </a:prstGeom>
          <a:solidFill>
            <a:srgbClr val="FFAB91">
              <a:alpha val="6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71500" y="200000"/>
            <a:ext cx="11000000" cy="500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3000" b="1">
                <a:solidFill>
                  <a:srgbClr val="4A2040"/>
                </a:solidFill>
                <a:latin typeface="Calibri"/>
              </a:rPr>
              <a:t>Hero Ingredients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800000" y="680000"/>
            <a:ext cx="2600000" cy="57150"/>
          </a:xfrm>
          <a:prstGeom prst="roundRect">
            <a:avLst>
              <a:gd name="adj" fmla="val 50000"/>
            </a:avLst>
          </a:prstGeom>
          <a:solidFill>
            <a:srgbClr val="81D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00000" y="950000"/>
            <a:ext cx="3600000" cy="2300000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2000000" y="1150000"/>
            <a:ext cx="400000" cy="400000"/>
          </a:xfrm>
          <a:prstGeom prst="ellipse">
            <a:avLst/>
          </a:prstGeom>
          <a:solidFill>
            <a:srgbClr val="FFA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000000" y="1200000"/>
            <a:ext cx="400000" cy="300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600" b="1">
                <a:solidFill>
                  <a:srgbClr val="4A2040"/>
                </a:solidFill>
                <a:latin typeface="Calibri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0000" y="1650000"/>
            <a:ext cx="3200000" cy="400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800" b="1">
                <a:solidFill>
                  <a:srgbClr val="4A2040"/>
                </a:solidFill>
                <a:latin typeface="Calibri"/>
              </a:rPr>
              <a:t>Snail Mucin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700000" y="2050000"/>
            <a:ext cx="1000000" cy="50000"/>
          </a:xfrm>
          <a:prstGeom prst="roundRect">
            <a:avLst>
              <a:gd name="adj" fmla="val 50000"/>
            </a:avLst>
          </a:prstGeom>
          <a:solidFill>
            <a:srgbClr val="FFA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00000" y="2250000"/>
            <a:ext cx="3200000" cy="700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500" b="0">
                <a:solidFill>
                  <a:srgbClr val="4A2040"/>
                </a:solidFill>
                <a:latin typeface="Calibri"/>
              </a:rPr>
              <a:t>Hydration + repair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00000" y="950000"/>
            <a:ext cx="3600000" cy="2300000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5900000" y="1150000"/>
            <a:ext cx="400000" cy="400000"/>
          </a:xfrm>
          <a:prstGeom prst="ellipse">
            <a:avLst/>
          </a:prstGeom>
          <a:solidFill>
            <a:srgbClr val="81D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900000" y="1200000"/>
            <a:ext cx="400000" cy="300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600" b="1">
                <a:solidFill>
                  <a:srgbClr val="4A2040"/>
                </a:solidFill>
                <a:latin typeface="Calibri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00000" y="1650000"/>
            <a:ext cx="3200000" cy="400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800" b="1">
                <a:solidFill>
                  <a:srgbClr val="4A2040"/>
                </a:solidFill>
                <a:latin typeface="Calibri"/>
              </a:rPr>
              <a:t>Niacinamide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00000" y="2050000"/>
            <a:ext cx="1000000" cy="50000"/>
          </a:xfrm>
          <a:prstGeom prst="roundRect">
            <a:avLst>
              <a:gd name="adj" fmla="val 50000"/>
            </a:avLst>
          </a:prstGeom>
          <a:solidFill>
            <a:srgbClr val="81D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00000" y="2250000"/>
            <a:ext cx="3200000" cy="700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500" b="0">
                <a:solidFill>
                  <a:srgbClr val="4A2040"/>
                </a:solidFill>
                <a:latin typeface="Calibri"/>
              </a:rPr>
              <a:t>Brightening + pore care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00000" y="950000"/>
            <a:ext cx="3600000" cy="2300000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800000" y="1150000"/>
            <a:ext cx="400000" cy="400000"/>
          </a:xfrm>
          <a:prstGeom prst="ellipse">
            <a:avLst/>
          </a:prstGeom>
          <a:solidFill>
            <a:srgbClr val="FFF5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800000" y="1200000"/>
            <a:ext cx="400000" cy="300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600" b="1">
                <a:solidFill>
                  <a:srgbClr val="4A2040"/>
                </a:solidFill>
                <a:latin typeface="Calibri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00000" y="1650000"/>
            <a:ext cx="3200000" cy="400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800" b="1">
                <a:solidFill>
                  <a:srgbClr val="4A2040"/>
                </a:solidFill>
                <a:latin typeface="Calibri"/>
              </a:rPr>
              <a:t>Centella Asiatica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500000" y="2050000"/>
            <a:ext cx="1000000" cy="50000"/>
          </a:xfrm>
          <a:prstGeom prst="roundRect">
            <a:avLst>
              <a:gd name="adj" fmla="val 50000"/>
            </a:avLst>
          </a:prstGeom>
          <a:solidFill>
            <a:srgbClr val="FFF5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400000" y="2250000"/>
            <a:ext cx="3200000" cy="700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500" b="0">
                <a:solidFill>
                  <a:srgbClr val="4A2040"/>
                </a:solidFill>
                <a:latin typeface="Calibri"/>
              </a:rPr>
              <a:t>Calming + anti-inflammatory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800000" y="3500000"/>
            <a:ext cx="3900000" cy="2300000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3550000" y="3700000"/>
            <a:ext cx="400000" cy="400000"/>
          </a:xfrm>
          <a:prstGeom prst="ellipse">
            <a:avLst/>
          </a:prstGeom>
          <a:solidFill>
            <a:srgbClr val="E8D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550000" y="3750000"/>
            <a:ext cx="400000" cy="300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600" b="1">
                <a:solidFill>
                  <a:srgbClr val="4A2040"/>
                </a:solidFill>
                <a:latin typeface="Calibri"/>
              </a:rPr>
              <a:t>04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000000" y="4200000"/>
            <a:ext cx="3500000" cy="400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800" b="1">
                <a:solidFill>
                  <a:srgbClr val="4A2040"/>
                </a:solidFill>
                <a:latin typeface="Calibri"/>
              </a:rPr>
              <a:t>Rice Extract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250000" y="4600000"/>
            <a:ext cx="1000000" cy="50000"/>
          </a:xfrm>
          <a:prstGeom prst="roundRect">
            <a:avLst>
              <a:gd name="adj" fmla="val 50000"/>
            </a:avLst>
          </a:prstGeom>
          <a:solidFill>
            <a:srgbClr val="E8D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000000" y="4800000"/>
            <a:ext cx="3500000" cy="700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500" b="0">
                <a:solidFill>
                  <a:srgbClr val="4A2040"/>
                </a:solidFill>
                <a:latin typeface="Calibri"/>
              </a:rPr>
              <a:t>Even skin tone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500000" y="3500000"/>
            <a:ext cx="3900000" cy="2300000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8250000" y="3700000"/>
            <a:ext cx="400000" cy="400000"/>
          </a:xfrm>
          <a:prstGeom prst="ellipse">
            <a:avLst/>
          </a:prstGeom>
          <a:solidFill>
            <a:srgbClr val="FFA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250000" y="3750000"/>
            <a:ext cx="400000" cy="300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600" b="1">
                <a:solidFill>
                  <a:srgbClr val="4A2040"/>
                </a:solidFill>
                <a:latin typeface="Calibri"/>
              </a:rPr>
              <a:t>05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700000" y="4200000"/>
            <a:ext cx="3500000" cy="400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800" b="1">
                <a:solidFill>
                  <a:srgbClr val="4A2040"/>
                </a:solidFill>
                <a:latin typeface="Calibri"/>
              </a:rPr>
              <a:t>Propolis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950000" y="4600000"/>
            <a:ext cx="1000000" cy="50000"/>
          </a:xfrm>
          <a:prstGeom prst="roundRect">
            <a:avLst>
              <a:gd name="adj" fmla="val 50000"/>
            </a:avLst>
          </a:prstGeom>
          <a:solidFill>
            <a:srgbClr val="FFA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700000" y="4800000"/>
            <a:ext cx="3500000" cy="700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500" b="0">
                <a:solidFill>
                  <a:srgbClr val="4A2040"/>
                </a:solidFill>
                <a:latin typeface="Calibri"/>
              </a:rPr>
              <a:t>Antibacterial + glow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200000" y="6050000"/>
            <a:ext cx="9800000" cy="500000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400000" y="6100000"/>
            <a:ext cx="9400000" cy="400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600" b="1">
                <a:solidFill>
                  <a:srgbClr val="4A2040"/>
                </a:solidFill>
                <a:latin typeface="Calibri"/>
              </a:rPr>
              <a:t>$13.2B in 2025  →  projected $21.8B by 2030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D6E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1200000" y="-300000"/>
            <a:ext cx="800000" cy="800000"/>
          </a:xfrm>
          <a:prstGeom prst="ellipse">
            <a:avLst/>
          </a:prstGeom>
          <a:solidFill>
            <a:srgbClr val="D5F5E3">
              <a:alpha val="6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300000" y="5800000"/>
            <a:ext cx="700000" cy="700000"/>
          </a:xfrm>
          <a:prstGeom prst="ellipse">
            <a:avLst/>
          </a:prstGeom>
          <a:solidFill>
            <a:srgbClr val="E8D5F5">
              <a:alpha val="6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71500" y="200000"/>
            <a:ext cx="11000000" cy="500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3000" b="1">
                <a:solidFill>
                  <a:srgbClr val="4A2040"/>
                </a:solidFill>
                <a:latin typeface="Calibri"/>
              </a:rPr>
              <a:t>Global Impact by the Numbers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00000" y="680000"/>
            <a:ext cx="3200000" cy="57150"/>
          </a:xfrm>
          <a:prstGeom prst="roundRect">
            <a:avLst>
              <a:gd name="adj" fmla="val 50000"/>
            </a:avLst>
          </a:prstGeom>
          <a:solidFill>
            <a:srgbClr val="FFA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00000" y="950000"/>
            <a:ext cx="3500000" cy="2500000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800000" y="1150000"/>
            <a:ext cx="500000" cy="500000"/>
          </a:xfrm>
          <a:prstGeom prst="ellipse">
            <a:avLst/>
          </a:prstGeom>
          <a:solidFill>
            <a:srgbClr val="FFA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00000" y="1200000"/>
            <a:ext cx="3100000" cy="500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3200" b="1">
                <a:solidFill>
                  <a:srgbClr val="4A2040"/>
                </a:solidFill>
                <a:latin typeface="Calibri"/>
              </a:rPr>
              <a:t>$13.2B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200000" y="1850000"/>
            <a:ext cx="1900000" cy="50000"/>
          </a:xfrm>
          <a:prstGeom prst="roundRect">
            <a:avLst>
              <a:gd name="adj" fmla="val 50000"/>
            </a:avLst>
          </a:prstGeom>
          <a:solidFill>
            <a:srgbClr val="FFA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00000" y="2050000"/>
            <a:ext cx="3100000" cy="400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800" b="1">
                <a:solidFill>
                  <a:srgbClr val="4A2040"/>
                </a:solidFill>
                <a:latin typeface="Calibri"/>
              </a:rPr>
              <a:t>Market Size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0000" y="2550000"/>
            <a:ext cx="3100000" cy="600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500" b="0">
                <a:solidFill>
                  <a:srgbClr val="4A2040"/>
                </a:solidFill>
                <a:latin typeface="Calibri"/>
              </a:rPr>
              <a:t>2,800+ brands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00000" y="950000"/>
            <a:ext cx="3500000" cy="2500000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5700000" y="1150000"/>
            <a:ext cx="500000" cy="500000"/>
          </a:xfrm>
          <a:prstGeom prst="ellipse">
            <a:avLst/>
          </a:prstGeom>
          <a:solidFill>
            <a:srgbClr val="81D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00000" y="1200000"/>
            <a:ext cx="3100000" cy="500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3200" b="1">
                <a:solidFill>
                  <a:srgbClr val="4A2040"/>
                </a:solidFill>
                <a:latin typeface="Calibri"/>
              </a:rPr>
              <a:t>400%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100000" y="1850000"/>
            <a:ext cx="1900000" cy="50000"/>
          </a:xfrm>
          <a:prstGeom prst="roundRect">
            <a:avLst>
              <a:gd name="adj" fmla="val 50000"/>
            </a:avLst>
          </a:prstGeom>
          <a:solidFill>
            <a:srgbClr val="81D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00000" y="2050000"/>
            <a:ext cx="3100000" cy="400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800" b="1">
                <a:solidFill>
                  <a:srgbClr val="4A2040"/>
                </a:solidFill>
                <a:latin typeface="Calibri"/>
              </a:rPr>
              <a:t>Import Growth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00000" y="2550000"/>
            <a:ext cx="3100000" cy="600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500" b="0">
                <a:solidFill>
                  <a:srgbClr val="4A2040"/>
                </a:solidFill>
                <a:latin typeface="Calibri"/>
              </a:rPr>
              <a:t>US since 2015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00000" y="950000"/>
            <a:ext cx="3500000" cy="2500000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600000" y="1150000"/>
            <a:ext cx="500000" cy="500000"/>
          </a:xfrm>
          <a:prstGeom prst="ellipse">
            <a:avLst/>
          </a:prstGeom>
          <a:solidFill>
            <a:srgbClr val="FFF5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400000" y="1200000"/>
            <a:ext cx="3100000" cy="500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3200" b="1">
                <a:solidFill>
                  <a:srgbClr val="4A2040"/>
                </a:solidFill>
                <a:latin typeface="Calibri"/>
              </a:rPr>
              <a:t>48B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000000" y="1850000"/>
            <a:ext cx="1900000" cy="50000"/>
          </a:xfrm>
          <a:prstGeom prst="roundRect">
            <a:avLst>
              <a:gd name="adj" fmla="val 50000"/>
            </a:avLst>
          </a:prstGeom>
          <a:solidFill>
            <a:srgbClr val="FFF5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400000" y="2050000"/>
            <a:ext cx="3100000" cy="400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800" b="1">
                <a:solidFill>
                  <a:srgbClr val="4A2040"/>
                </a:solidFill>
                <a:latin typeface="Calibri"/>
              </a:rPr>
              <a:t>TikTok Views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00000" y="2550000"/>
            <a:ext cx="3100000" cy="600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500" b="0">
                <a:solidFill>
                  <a:srgbClr val="4A2040"/>
                </a:solidFill>
                <a:latin typeface="Calibri"/>
              </a:rPr>
              <a:t>#KBeauty global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800000" y="3700000"/>
            <a:ext cx="3900000" cy="2500000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3350000" y="3900000"/>
            <a:ext cx="500000" cy="500000"/>
          </a:xfrm>
          <a:prstGeom prst="ellipse">
            <a:avLst/>
          </a:prstGeom>
          <a:solidFill>
            <a:srgbClr val="D5F5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000000" y="3950000"/>
            <a:ext cx="3500000" cy="500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3200" b="1">
                <a:solidFill>
                  <a:srgbClr val="4A2040"/>
                </a:solidFill>
                <a:latin typeface="Calibri"/>
              </a:rPr>
              <a:t>$230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2800000" y="4600000"/>
            <a:ext cx="1900000" cy="50000"/>
          </a:xfrm>
          <a:prstGeom prst="roundRect">
            <a:avLst>
              <a:gd name="adj" fmla="val 50000"/>
            </a:avLst>
          </a:prstGeom>
          <a:solidFill>
            <a:srgbClr val="D5F5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000000" y="4800000"/>
            <a:ext cx="3500000" cy="400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800" b="1">
                <a:solidFill>
                  <a:srgbClr val="4A2040"/>
                </a:solidFill>
                <a:latin typeface="Calibri"/>
              </a:rPr>
              <a:t>Annual Spend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000000" y="5300000"/>
            <a:ext cx="3500000" cy="600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500" b="0">
                <a:solidFill>
                  <a:srgbClr val="4A2040"/>
                </a:solidFill>
                <a:latin typeface="Calibri"/>
              </a:rPr>
              <a:t>Korea per capita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500000" y="3700000"/>
            <a:ext cx="3900000" cy="2500000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8050000" y="3900000"/>
            <a:ext cx="500000" cy="500000"/>
          </a:xfrm>
          <a:prstGeom prst="ellipse">
            <a:avLst/>
          </a:prstGeom>
          <a:solidFill>
            <a:srgbClr val="E8D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700000" y="3950000"/>
            <a:ext cx="3500000" cy="500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3200" b="1">
                <a:solidFill>
                  <a:srgbClr val="4A2040"/>
                </a:solidFill>
                <a:latin typeface="Calibri"/>
              </a:rPr>
              <a:t>4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500000" y="4600000"/>
            <a:ext cx="1900000" cy="50000"/>
          </a:xfrm>
          <a:prstGeom prst="roundRect">
            <a:avLst>
              <a:gd name="adj" fmla="val 50000"/>
            </a:avLst>
          </a:prstGeom>
          <a:solidFill>
            <a:srgbClr val="E8D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700000" y="4800000"/>
            <a:ext cx="3500000" cy="400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800" b="1">
                <a:solidFill>
                  <a:srgbClr val="4A2040"/>
                </a:solidFill>
                <a:latin typeface="Calibri"/>
              </a:rPr>
              <a:t>Top Markets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700000" y="5300000"/>
            <a:ext cx="3500000" cy="600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500" b="0">
                <a:solidFill>
                  <a:srgbClr val="4A2040"/>
                </a:solidFill>
                <a:latin typeface="Calibri"/>
              </a:rPr>
              <a:t>CN, US, JP, SEA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71500" y="6400000"/>
            <a:ext cx="11050000" cy="300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400" b="0">
                <a:solidFill>
                  <a:srgbClr val="8A607A"/>
                </a:solidFill>
                <a:latin typeface="Calibri"/>
              </a:rPr>
              <a:t>Sources: Statista, Korea Customs, TikTok Analytics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8D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300000" y="-300000"/>
            <a:ext cx="900000" cy="900000"/>
          </a:xfrm>
          <a:prstGeom prst="ellipse">
            <a:avLst/>
          </a:prstGeom>
          <a:solidFill>
            <a:srgbClr val="FFAB91">
              <a:alpha val="6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1200000" y="-400000"/>
            <a:ext cx="1000000" cy="1000000"/>
          </a:xfrm>
          <a:prstGeom prst="ellipse">
            <a:avLst/>
          </a:prstGeom>
          <a:solidFill>
            <a:srgbClr val="FFF59D">
              <a:alpha val="6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200000" y="5800000"/>
            <a:ext cx="800000" cy="800000"/>
          </a:xfrm>
          <a:prstGeom prst="ellipse">
            <a:avLst/>
          </a:prstGeom>
          <a:solidFill>
            <a:srgbClr val="81D4FA">
              <a:alpha val="6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1500000" y="5500000"/>
            <a:ext cx="900000" cy="900000"/>
          </a:xfrm>
          <a:prstGeom prst="ellipse">
            <a:avLst/>
          </a:prstGeom>
          <a:solidFill>
            <a:srgbClr val="D5F5E3">
              <a:alpha val="6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500000" y="1800000"/>
            <a:ext cx="9200000" cy="3200000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800000" y="2000000"/>
            <a:ext cx="8600000" cy="800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3800" b="1">
                <a:solidFill>
                  <a:srgbClr val="4A2040"/>
                </a:solidFill>
                <a:latin typeface="Calibri"/>
              </a:rPr>
              <a:t>Your Skin, Your Story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00000" y="2800000"/>
            <a:ext cx="3200000" cy="70000"/>
          </a:xfrm>
          <a:prstGeom prst="roundRect">
            <a:avLst>
              <a:gd name="adj" fmla="val 50000"/>
            </a:avLst>
          </a:prstGeom>
          <a:solidFill>
            <a:srgbClr val="81D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800000" y="3100000"/>
            <a:ext cx="8600000" cy="600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800" b="0">
                <a:solidFill>
                  <a:srgbClr val="4A2040"/>
                </a:solidFill>
                <a:latin typeface="Calibri"/>
              </a:rPr>
              <a:t>The future of beauty is personal,
science-driven, and inclusive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00000" y="3800000"/>
            <a:ext cx="8600000" cy="400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600" b="0">
                <a:solidFill>
                  <a:srgbClr val="8A607A"/>
                </a:solidFill>
                <a:latin typeface="Calibri"/>
              </a:rPr>
              <a:t>K-Beauty Market Analysis  |  2025</a:t>
            </a:r>
          </a:p>
        </p:txBody>
      </p:sp>
      <p:sp>
        <p:nvSpPr>
          <p:cNvPr id="11" name="Oval 10"/>
          <p:cNvSpPr/>
          <p:nvPr/>
        </p:nvSpPr>
        <p:spPr>
          <a:xfrm>
            <a:off x="2200000" y="5400000"/>
            <a:ext cx="200000" cy="200000"/>
          </a:xfrm>
          <a:prstGeom prst="ellipse">
            <a:avLst/>
          </a:prstGeom>
          <a:solidFill>
            <a:srgbClr val="FFAB91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800000" y="5400000"/>
            <a:ext cx="200000" cy="200000"/>
          </a:xfrm>
          <a:prstGeom prst="ellipse">
            <a:avLst/>
          </a:prstGeom>
          <a:solidFill>
            <a:srgbClr val="FFF59D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