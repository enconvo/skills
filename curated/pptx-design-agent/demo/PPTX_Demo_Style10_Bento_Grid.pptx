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0000" y="350000"/>
            <a:ext cx="5700280" cy="4074852"/>
          </a:xfrm>
          <a:prstGeom prst="roundRect">
            <a:avLst>
              <a:gd name="adj" fmla="val 8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00" y="650000"/>
            <a:ext cx="530028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
K-Beauty
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000" y="2350000"/>
            <a:ext cx="530028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How Korea Redefined
Skincare for the World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1720" y="350000"/>
            <a:ext cx="2804420" cy="1991706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91720" y="550000"/>
            <a:ext cx="250442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9F0A"/>
                </a:solidFill>
                <a:latin typeface="Calibri"/>
              </a:rPr>
              <a:t>$13.2B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720" y="1250000"/>
            <a:ext cx="250442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A0A0"/>
                </a:solidFill>
                <a:latin typeface="Calibri"/>
              </a:rPr>
              <a:t>Global
Market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37580" y="350000"/>
            <a:ext cx="2804420" cy="1991706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7580" y="550000"/>
            <a:ext cx="250442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34C759"/>
                </a:solidFill>
                <a:latin typeface="Calibri"/>
              </a:rPr>
              <a:t>2,800+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7580" y="1250000"/>
            <a:ext cx="250442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A0A0"/>
                </a:solidFill>
                <a:latin typeface="Calibri"/>
              </a:rPr>
              <a:t>Active
Brands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1720" y="2433146"/>
            <a:ext cx="5700280" cy="1991706"/>
          </a:xfrm>
          <a:prstGeom prst="roundRect">
            <a:avLst>
              <a:gd name="adj" fmla="val 8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720" y="2733146"/>
            <a:ext cx="530028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Market Analysis  | 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720" y="3433146"/>
            <a:ext cx="530028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DDCCEE"/>
                </a:solidFill>
                <a:latin typeface="Calibri"/>
              </a:rPr>
              <a:t>From Seoul to the world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000" y="4516292"/>
            <a:ext cx="11492000" cy="1991706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000" y="4716292"/>
            <a:ext cx="11092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92% of Korean women follow a multi-step routine vs 35% in the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000" y="5416292"/>
            <a:ext cx="11092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A0A0"/>
                </a:solidFill>
                <a:latin typeface="Calibri"/>
              </a:rPr>
              <a:t>The 10-step skincare philosophy has become a global cultural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0000" y="350000"/>
            <a:ext cx="11492000" cy="600000"/>
          </a:xfrm>
          <a:prstGeom prst="roundRect">
            <a:avLst>
              <a:gd name="adj" fmla="val 8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00" y="450000"/>
            <a:ext cx="11092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THE 10-STEP ROUTINE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000" y="1050000"/>
            <a:ext cx="5700280" cy="350000"/>
          </a:xfrm>
          <a:prstGeom prst="roundRect">
            <a:avLst>
              <a:gd name="adj" fmla="val 8000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1100000"/>
            <a:ext cx="550028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C1E"/>
                </a:solidFill>
                <a:latin typeface="Calibri"/>
              </a:rPr>
              <a:t>MORNING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000" y="150000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0000" y="15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71E3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000" y="201836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Oil Cleanser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5860" y="150000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5860" y="15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71E3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5860" y="201836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Water Cleanser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000" y="288736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000" y="293736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71E3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" y="340572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5860" y="288736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5860" y="293736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71E3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5860" y="340572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Essence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000" y="427472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000" y="432472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71E3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000" y="479308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Serum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5860" y="427472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5860" y="432472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71E3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5860" y="479308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Eye Cream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000" y="566208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000" y="571208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71E3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000" y="618044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Moisturizer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5860" y="566208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5860" y="571208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071E3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5860" y="618044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1720" y="1050000"/>
            <a:ext cx="5700280" cy="350000"/>
          </a:xfrm>
          <a:prstGeom prst="roundRect">
            <a:avLst>
              <a:gd name="adj" fmla="val 8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1720" y="1100000"/>
            <a:ext cx="550028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NIGHT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1720" y="150000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1720" y="15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AF52DE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1720" y="201836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Double Cleanse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37580" y="150000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7580" y="15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AF52DE"/>
                </a:solidFill>
                <a:latin typeface="Calibr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7580" y="201836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Exfoliant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1720" y="288736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1720" y="293736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AF52DE"/>
                </a:solidFill>
                <a:latin typeface="Calibr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1720" y="340572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7580" y="288736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17580" y="293736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AF52DE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17580" y="340572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Essence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1720" y="427472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1720" y="432472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AF52DE"/>
                </a:solidFill>
                <a:latin typeface="Calibri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1720" y="479308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Ampoule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37580" y="427472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7580" y="432472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AF52DE"/>
                </a:solidFill>
                <a:latin typeface="Calibr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7580" y="479308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Sheet Mask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41720" y="566208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21720" y="571208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AF52DE"/>
                </a:solidFill>
                <a:latin typeface="Calibri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21720" y="618044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Eye Cream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37580" y="5662080"/>
            <a:ext cx="2804420" cy="129592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17580" y="571208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AF52DE"/>
                </a:solidFill>
                <a:latin typeface="Calibri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17580" y="6180448"/>
            <a:ext cx="264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Night Cream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0000" y="350000"/>
            <a:ext cx="11492000" cy="600000"/>
          </a:xfrm>
          <a:prstGeom prst="roundRect">
            <a:avLst>
              <a:gd name="adj" fmla="val 8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00" y="450000"/>
            <a:ext cx="11092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C1C1E"/>
                </a:solidFill>
                <a:latin typeface="Calibri"/>
              </a:rPr>
              <a:t>HERO INGREDIENTS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000" y="1050000"/>
            <a:ext cx="3769706" cy="20000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200000"/>
            <a:ext cx="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071E3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650000"/>
            <a:ext cx="3469706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Snail Mucin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2250000"/>
            <a:ext cx="3469706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Hydration + repair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1146" y="1050000"/>
            <a:ext cx="3769706" cy="20000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146" y="1200000"/>
            <a:ext cx="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34C759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146" y="1650000"/>
            <a:ext cx="3469706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Niacinamide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146" y="2250000"/>
            <a:ext cx="3469706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Brightening + pore care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292" y="1050000"/>
            <a:ext cx="3769706" cy="20000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2292" y="1200000"/>
            <a:ext cx="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AF52DE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2292" y="1650000"/>
            <a:ext cx="3469706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Centella Asiatica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2292" y="2250000"/>
            <a:ext cx="3469706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Calming + anti-inflammatory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000" y="3141440"/>
            <a:ext cx="5700280" cy="20000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3291440"/>
            <a:ext cx="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9F0A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3741440"/>
            <a:ext cx="540028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Rice 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" y="4341440"/>
            <a:ext cx="540028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Even skin 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1720" y="3141440"/>
            <a:ext cx="5700280" cy="200000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720" y="3291440"/>
            <a:ext cx="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071E3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720" y="3741440"/>
            <a:ext cx="540028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Propolis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720" y="4341440"/>
            <a:ext cx="540028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Antibacterial + glow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000" y="5232880"/>
            <a:ext cx="11492000" cy="1275120"/>
          </a:xfrm>
          <a:prstGeom prst="roundRect">
            <a:avLst>
              <a:gd name="adj" fmla="val 8000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000" y="5332880"/>
            <a:ext cx="11092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C1E"/>
                </a:solidFill>
                <a:latin typeface="Calibri"/>
              </a:rPr>
              <a:t>$13.2B in 2025  →  $21.8B by 2030  |  Source: Statista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0000" y="350000"/>
            <a:ext cx="11492000" cy="600000"/>
          </a:xfrm>
          <a:prstGeom prst="roundRect">
            <a:avLst>
              <a:gd name="adj" fmla="val 8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00" y="450000"/>
            <a:ext cx="11092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GLOBAL IMPACT 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000" y="1100000"/>
            <a:ext cx="5700280" cy="265828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000" y="1300000"/>
            <a:ext cx="530028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0071E3"/>
                </a:solidFill>
                <a:latin typeface="Calibri"/>
              </a:rPr>
              <a:t>$13.2B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000" y="2100000"/>
            <a:ext cx="530028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Market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000" y="2600000"/>
            <a:ext cx="530028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2,800+ brands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1720" y="1100000"/>
            <a:ext cx="2804420" cy="265828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720" y="1300000"/>
            <a:ext cx="250442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34C759"/>
                </a:solidFill>
                <a:latin typeface="Calibri"/>
              </a:rPr>
              <a:t>400%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720" y="2000000"/>
            <a:ext cx="250442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Import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720" y="2500000"/>
            <a:ext cx="250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A0A0"/>
                </a:solidFill>
                <a:latin typeface="Calibri"/>
              </a:rPr>
              <a:t>US since 2015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7580" y="1100000"/>
            <a:ext cx="2804420" cy="265828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7580" y="1300000"/>
            <a:ext cx="250442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9F0A"/>
                </a:solidFill>
                <a:latin typeface="Calibri"/>
              </a:rPr>
              <a:t>48B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7580" y="2000000"/>
            <a:ext cx="250442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TikTok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7580" y="2500000"/>
            <a:ext cx="250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A0A0"/>
                </a:solidFill>
                <a:latin typeface="Calibri"/>
              </a:rPr>
              <a:t>#KBeauty global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000" y="3849720"/>
            <a:ext cx="2804420" cy="265828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4049720"/>
            <a:ext cx="250442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AF52DE"/>
                </a:solidFill>
                <a:latin typeface="Calibri"/>
              </a:rPr>
              <a:t>$230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4749720"/>
            <a:ext cx="250442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Annual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" y="5249720"/>
            <a:ext cx="250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A0A0"/>
                </a:solidFill>
                <a:latin typeface="Calibri"/>
              </a:rPr>
              <a:t>Korea per capita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5860" y="3849720"/>
            <a:ext cx="2804420" cy="265828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5860" y="4049720"/>
            <a:ext cx="250442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71E3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5860" y="4749720"/>
            <a:ext cx="250442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Top Markets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5860" y="5249720"/>
            <a:ext cx="250442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A0A0"/>
                </a:solidFill>
                <a:latin typeface="Calibri"/>
              </a:rPr>
              <a:t>CN, US, JP, SEA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1720" y="3849720"/>
            <a:ext cx="5700280" cy="2658280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1720" y="4249720"/>
            <a:ext cx="530028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1720" y="4749720"/>
            <a:ext cx="530028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Statista, Korea Customs
Service, TikTok Analytics
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0000" y="350000"/>
            <a:ext cx="11492000" cy="4074852"/>
          </a:xfrm>
          <a:prstGeom prst="roundRect">
            <a:avLst>
              <a:gd name="adj" fmla="val 8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0000" y="850000"/>
            <a:ext cx="106920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Your Skin,
Your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000" y="2350000"/>
            <a:ext cx="10692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CCDDFF"/>
                </a:solidFill>
                <a:latin typeface="Calibri"/>
              </a:rPr>
              <a:t>The future of beauty is personal,
science-driven, and inclusive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000" y="4516292"/>
            <a:ext cx="2804420" cy="1991706"/>
          </a:xfrm>
          <a:prstGeom prst="roundRect">
            <a:avLst>
              <a:gd name="adj" fmla="val 8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5362145"/>
            <a:ext cx="250442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Personal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5860" y="4516292"/>
            <a:ext cx="2804420" cy="1991706"/>
          </a:xfrm>
          <a:prstGeom prst="roundRect">
            <a:avLst>
              <a:gd name="adj" fmla="val 8000"/>
            </a:avLst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5860" y="5362145"/>
            <a:ext cx="250442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Science-Driven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1720" y="4516292"/>
            <a:ext cx="2804420" cy="1991706"/>
          </a:xfrm>
          <a:prstGeom prst="roundRect">
            <a:avLst>
              <a:gd name="adj" fmla="val 8000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720" y="5362145"/>
            <a:ext cx="250442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C1C1E"/>
                </a:solidFill>
                <a:latin typeface="Calibri"/>
              </a:rPr>
              <a:t>Inclusive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37580" y="4516292"/>
            <a:ext cx="2804420" cy="1991706"/>
          </a:xfrm>
          <a:prstGeom prst="roundRect">
            <a:avLst>
              <a:gd name="adj" fmla="val 8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7580" y="5362145"/>
            <a:ext cx="250442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