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0000" y="400000"/>
            <a:ext cx="2000000" cy="80000"/>
          </a:xfrm>
          <a:prstGeom prst="rect">
            <a:avLst/>
          </a:prstGeom>
          <a:solidFill>
            <a:srgbClr val="D46A3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0000" y="300000"/>
            <a:ext cx="1800000" cy="80000"/>
          </a:xfrm>
          <a:prstGeom prst="rect">
            <a:avLst/>
          </a:prstGeom>
          <a:solidFill>
            <a:srgbClr val="2B457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0000" y="1800000"/>
            <a:ext cx="9800000" cy="12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 i="0">
                <a:solidFill>
                  <a:srgbClr val="3C3C3C"/>
                </a:solidFill>
                <a:latin typeface="Comic Sans MS"/>
              </a:rPr>
              <a:t>The K-Beauty Revolution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500000" y="3000000"/>
            <a:ext cx="5200000" cy="18288"/>
          </a:xfrm>
          <a:prstGeom prst="rect">
            <a:avLst/>
          </a:prstGeom>
          <a:solidFill>
            <a:srgbClr val="D46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0000" y="3300000"/>
            <a:ext cx="92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 i="1">
                <a:solidFill>
                  <a:srgbClr val="2B4570"/>
                </a:solidFill>
                <a:latin typeface="Calibri"/>
              </a:rPr>
              <a:t>How Korea Redefined Skincare for the World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0000" y="5500000"/>
            <a:ext cx="4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600" b="0" i="1">
                <a:solidFill>
                  <a:srgbClr val="A0A0A0"/>
                </a:solidFill>
                <a:latin typeface="Noteworthy"/>
              </a:rPr>
              <a:t>~ a visual exploration ~</a:t>
            </a:r>
          </a:p>
        </p:txBody>
      </p:sp>
      <p:sp>
        <p:nvSpPr>
          <p:cNvPr id="8" name="Oval 7"/>
          <p:cNvSpPr/>
          <p:nvPr/>
        </p:nvSpPr>
        <p:spPr>
          <a:xfrm>
            <a:off x="300000" y="5800000"/>
            <a:ext cx="250000" cy="250000"/>
          </a:xfrm>
          <a:prstGeom prst="ellipse">
            <a:avLst/>
          </a:prstGeom>
          <a:noFill/>
          <a:ln w="19050">
            <a:solidFill>
              <a:srgbClr val="D46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00000" y="5600000"/>
            <a:ext cx="250000" cy="250000"/>
          </a:xfrm>
          <a:prstGeom prst="ellipse">
            <a:avLst/>
          </a:prstGeom>
          <a:noFill/>
          <a:ln w="19050">
            <a:solidFill>
              <a:srgbClr val="2B4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0000" y="200000"/>
            <a:ext cx="250000" cy="250000"/>
          </a:xfrm>
          <a:prstGeom prst="ellipse">
            <a:avLst/>
          </a:prstGeom>
          <a:noFill/>
          <a:ln w="190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200000"/>
            <a:ext cx="110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3C3C3C"/>
                </a:solidFill>
                <a:latin typeface="Comic Sans MS"/>
              </a:rPr>
              <a:t>The 10-Step Routine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680000"/>
            <a:ext cx="3000000" cy="18288"/>
          </a:xfrm>
          <a:prstGeom prst="rect">
            <a:avLst/>
          </a:prstGeom>
          <a:solidFill>
            <a:srgbClr val="D46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830000"/>
            <a:ext cx="11050000" cy="450000"/>
          </a:xfrm>
          <a:prstGeom prst="rect">
            <a:avLst/>
          </a:prstGeom>
          <a:noFill/>
          <a:ln w="19050">
            <a:solidFill>
              <a:srgbClr val="2B4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0000" y="900000"/>
            <a:ext cx="107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3C3C3C"/>
                </a:solidFill>
                <a:latin typeface="Calibri"/>
              </a:rPr>
              <a:t/>
            </a:r>
            <a:r>
              <a:rPr sz="1800" b="1">
                <a:solidFill>
                  <a:srgbClr val="D46A3C"/>
                </a:solidFill>
                <a:latin typeface="Comic Sans MS"/>
              </a:rPr>
              <a:t>92%</a:t>
            </a:r>
            <a:r>
              <a:rPr sz="1400">
                <a:solidFill>
                  <a:srgbClr val="3C3C3C"/>
                </a:solidFill>
                <a:latin typeface="Calibri"/>
              </a:rPr>
              <a:t> of Korean women follow multi-step vs </a:t>
            </a:r>
            <a:r>
              <a:rPr sz="1800" b="1">
                <a:solidFill>
                  <a:srgbClr val="D46A3C"/>
                </a:solidFill>
                <a:latin typeface="Comic Sans MS"/>
              </a:rPr>
              <a:t>35%</a:t>
            </a:r>
            <a:r>
              <a:rPr sz="1400">
                <a:solidFill>
                  <a:srgbClr val="3C3C3C"/>
                </a:solidFill>
                <a:latin typeface="Calibri"/>
              </a:rPr>
              <a:t> in the US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450000"/>
            <a:ext cx="2000000" cy="80000"/>
          </a:xfrm>
          <a:prstGeom prst="rect">
            <a:avLst/>
          </a:prstGeom>
          <a:solidFill>
            <a:srgbClr val="D46A3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1500" y="1530000"/>
            <a:ext cx="2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  <a:latin typeface="Comic Sans MS"/>
              </a:rPr>
              <a:t>MORNING</a:t>
            </a:r>
          </a:p>
        </p:txBody>
      </p:sp>
      <p:sp>
        <p:nvSpPr>
          <p:cNvPr id="8" name="Oval 7"/>
          <p:cNvSpPr/>
          <p:nvPr/>
        </p:nvSpPr>
        <p:spPr>
          <a:xfrm>
            <a:off x="671500" y="1950000"/>
            <a:ext cx="280000" cy="280000"/>
          </a:xfrm>
          <a:prstGeom prst="ellipse">
            <a:avLst/>
          </a:prstGeom>
          <a:solidFill>
            <a:srgbClr val="2B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1500" y="1992000"/>
            <a:ext cx="280000" cy="19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mic Sans M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1500" y="1990000"/>
            <a:ext cx="46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3C3C3C"/>
                </a:solidFill>
                <a:latin typeface="Calibri"/>
              </a:rPr>
              <a:t>Oil Cleanser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1500" y="2240000"/>
            <a:ext cx="10000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1500" y="2280000"/>
            <a:ext cx="280000" cy="280000"/>
          </a:xfrm>
          <a:prstGeom prst="ellipse">
            <a:avLst/>
          </a:prstGeom>
          <a:solidFill>
            <a:srgbClr val="2B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1500" y="2322000"/>
            <a:ext cx="280000" cy="19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mic Sans M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1500" y="2320000"/>
            <a:ext cx="46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3C3C3C"/>
                </a:solidFill>
                <a:latin typeface="Calibri"/>
              </a:rPr>
              <a:t>Water Cleanser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1500" y="2570000"/>
            <a:ext cx="10000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1500" y="2610000"/>
            <a:ext cx="280000" cy="280000"/>
          </a:xfrm>
          <a:prstGeom prst="ellipse">
            <a:avLst/>
          </a:prstGeom>
          <a:solidFill>
            <a:srgbClr val="2B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500" y="2652000"/>
            <a:ext cx="280000" cy="19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mic Sans M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1500" y="2650000"/>
            <a:ext cx="46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3C3C3C"/>
                </a:solidFill>
                <a:latin typeface="Calibri"/>
              </a:rPr>
              <a:t>Toner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1500" y="2900000"/>
            <a:ext cx="10000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1500" y="2940000"/>
            <a:ext cx="280000" cy="280000"/>
          </a:xfrm>
          <a:prstGeom prst="ellipse">
            <a:avLst/>
          </a:prstGeom>
          <a:solidFill>
            <a:srgbClr val="2B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1500" y="2982000"/>
            <a:ext cx="280000" cy="19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mic Sans M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500" y="2980000"/>
            <a:ext cx="46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3C3C3C"/>
                </a:solidFill>
                <a:latin typeface="Calibri"/>
              </a:rPr>
              <a:t>Essence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1500" y="3230000"/>
            <a:ext cx="10000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1500" y="3270000"/>
            <a:ext cx="280000" cy="280000"/>
          </a:xfrm>
          <a:prstGeom prst="ellipse">
            <a:avLst/>
          </a:prstGeom>
          <a:solidFill>
            <a:srgbClr val="2B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1500" y="3312000"/>
            <a:ext cx="280000" cy="19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mic Sans M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1500" y="3310000"/>
            <a:ext cx="46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3C3C3C"/>
                </a:solidFill>
                <a:latin typeface="Calibri"/>
              </a:rPr>
              <a:t>Serum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1500" y="3560000"/>
            <a:ext cx="10000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1500" y="3600000"/>
            <a:ext cx="280000" cy="280000"/>
          </a:xfrm>
          <a:prstGeom prst="ellipse">
            <a:avLst/>
          </a:prstGeom>
          <a:solidFill>
            <a:srgbClr val="2B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500" y="3642000"/>
            <a:ext cx="280000" cy="19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mic Sans MS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1500" y="3640000"/>
            <a:ext cx="46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3C3C3C"/>
                </a:solidFill>
                <a:latin typeface="Calibri"/>
              </a:rPr>
              <a:t>Eye Cream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1500" y="3890000"/>
            <a:ext cx="10000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1500" y="3930000"/>
            <a:ext cx="280000" cy="280000"/>
          </a:xfrm>
          <a:prstGeom prst="ellipse">
            <a:avLst/>
          </a:prstGeom>
          <a:solidFill>
            <a:srgbClr val="2B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1500" y="3972000"/>
            <a:ext cx="280000" cy="19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mic Sans MS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1500" y="3970000"/>
            <a:ext cx="46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3C3C3C"/>
                </a:solidFill>
                <a:latin typeface="Calibri"/>
              </a:rPr>
              <a:t>Moisturizer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1500" y="4220000"/>
            <a:ext cx="10000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71500" y="4260000"/>
            <a:ext cx="280000" cy="280000"/>
          </a:xfrm>
          <a:prstGeom prst="ellipse">
            <a:avLst/>
          </a:prstGeom>
          <a:solidFill>
            <a:srgbClr val="2B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1500" y="4302000"/>
            <a:ext cx="280000" cy="19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mic Sans MS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1500" y="4300000"/>
            <a:ext cx="46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3C3C3C"/>
                </a:solidFill>
                <a:latin typeface="Calibri"/>
              </a:rPr>
              <a:t>SPF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1500" y="1500000"/>
            <a:ext cx="18288" cy="8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71500" y="1650000"/>
            <a:ext cx="18288" cy="8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71500" y="1800000"/>
            <a:ext cx="18288" cy="8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71500" y="1950000"/>
            <a:ext cx="18288" cy="8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71500" y="2100000"/>
            <a:ext cx="18288" cy="8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71500" y="2250000"/>
            <a:ext cx="18288" cy="8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71500" y="2400000"/>
            <a:ext cx="18288" cy="8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71500" y="2550000"/>
            <a:ext cx="18288" cy="8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71500" y="2700000"/>
            <a:ext cx="18288" cy="8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71500" y="2850000"/>
            <a:ext cx="18288" cy="8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071500" y="3000000"/>
            <a:ext cx="18288" cy="8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71500" y="3150000"/>
            <a:ext cx="18288" cy="8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071500" y="3300000"/>
            <a:ext cx="18288" cy="8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071500" y="3450000"/>
            <a:ext cx="18288" cy="8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071500" y="3600000"/>
            <a:ext cx="18288" cy="8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071500" y="3750000"/>
            <a:ext cx="18288" cy="8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071500" y="3900000"/>
            <a:ext cx="18288" cy="8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071500" y="4050000"/>
            <a:ext cx="18288" cy="8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071500" y="4200000"/>
            <a:ext cx="18288" cy="8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071500" y="4350000"/>
            <a:ext cx="18288" cy="8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071500" y="4500000"/>
            <a:ext cx="18288" cy="8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071500" y="4650000"/>
            <a:ext cx="18288" cy="8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071500" y="4800000"/>
            <a:ext cx="18288" cy="8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71500" y="4950000"/>
            <a:ext cx="18288" cy="8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71500" y="5100000"/>
            <a:ext cx="18288" cy="8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71500" y="5250000"/>
            <a:ext cx="18288" cy="8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71500" y="5400000"/>
            <a:ext cx="18288" cy="8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71500" y="5550000"/>
            <a:ext cx="18288" cy="8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71500" y="5700000"/>
            <a:ext cx="18288" cy="8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71500" y="5850000"/>
            <a:ext cx="18288" cy="8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071500" y="6000000"/>
            <a:ext cx="18288" cy="8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71500" y="6150000"/>
            <a:ext cx="18288" cy="8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00000" y="1450000"/>
            <a:ext cx="1600000" cy="80000"/>
          </a:xfrm>
          <a:prstGeom prst="rect">
            <a:avLst/>
          </a:prstGeom>
          <a:solidFill>
            <a:srgbClr val="2B457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00000" y="1530000"/>
            <a:ext cx="16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  <a:latin typeface="Comic Sans MS"/>
              </a:rPr>
              <a:t>NIGHT</a:t>
            </a:r>
          </a:p>
        </p:txBody>
      </p:sp>
      <p:sp>
        <p:nvSpPr>
          <p:cNvPr id="73" name="Oval 72"/>
          <p:cNvSpPr/>
          <p:nvPr/>
        </p:nvSpPr>
        <p:spPr>
          <a:xfrm>
            <a:off x="6500000" y="1950000"/>
            <a:ext cx="280000" cy="280000"/>
          </a:xfrm>
          <a:prstGeom prst="ellipse">
            <a:avLst/>
          </a:prstGeom>
          <a:solidFill>
            <a:srgbClr val="D46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00000" y="1992000"/>
            <a:ext cx="280000" cy="19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mic Sans MS"/>
              </a:rPr>
              <a:t>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00000" y="1990000"/>
            <a:ext cx="46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3C3C3C"/>
                </a:solidFill>
                <a:latin typeface="Calibri"/>
              </a:rPr>
              <a:t>Double Cleanse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00000" y="2240000"/>
            <a:ext cx="10000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500000" y="2280000"/>
            <a:ext cx="280000" cy="280000"/>
          </a:xfrm>
          <a:prstGeom prst="ellipse">
            <a:avLst/>
          </a:prstGeom>
          <a:solidFill>
            <a:srgbClr val="D46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00000" y="2322000"/>
            <a:ext cx="280000" cy="19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mic Sans MS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00000" y="2320000"/>
            <a:ext cx="46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3C3C3C"/>
                </a:solidFill>
                <a:latin typeface="Calibri"/>
              </a:rPr>
              <a:t>Exfoliant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600000" y="2570000"/>
            <a:ext cx="10000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500000" y="2610000"/>
            <a:ext cx="280000" cy="280000"/>
          </a:xfrm>
          <a:prstGeom prst="ellipse">
            <a:avLst/>
          </a:prstGeom>
          <a:solidFill>
            <a:srgbClr val="D46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00000" y="2652000"/>
            <a:ext cx="280000" cy="19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mic Sans MS"/>
              </a:rPr>
              <a:t>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00000" y="2650000"/>
            <a:ext cx="46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3C3C3C"/>
                </a:solidFill>
                <a:latin typeface="Calibri"/>
              </a:rPr>
              <a:t>Toner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600000" y="2900000"/>
            <a:ext cx="10000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500000" y="2940000"/>
            <a:ext cx="280000" cy="280000"/>
          </a:xfrm>
          <a:prstGeom prst="ellipse">
            <a:avLst/>
          </a:prstGeom>
          <a:solidFill>
            <a:srgbClr val="D46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500000" y="2982000"/>
            <a:ext cx="280000" cy="19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mic Sans MS"/>
              </a:rP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900000" y="2980000"/>
            <a:ext cx="46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3C3C3C"/>
                </a:solidFill>
                <a:latin typeface="Calibri"/>
              </a:rPr>
              <a:t>Essence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600000" y="3230000"/>
            <a:ext cx="10000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500000" y="3270000"/>
            <a:ext cx="280000" cy="280000"/>
          </a:xfrm>
          <a:prstGeom prst="ellipse">
            <a:avLst/>
          </a:prstGeom>
          <a:solidFill>
            <a:srgbClr val="D46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500000" y="3312000"/>
            <a:ext cx="280000" cy="19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mic Sans MS"/>
              </a:rPr>
              <a:t>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900000" y="3310000"/>
            <a:ext cx="46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3C3C3C"/>
                </a:solidFill>
                <a:latin typeface="Calibri"/>
              </a:rPr>
              <a:t>Ampoule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600000" y="3560000"/>
            <a:ext cx="10000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500000" y="3600000"/>
            <a:ext cx="280000" cy="280000"/>
          </a:xfrm>
          <a:prstGeom prst="ellipse">
            <a:avLst/>
          </a:prstGeom>
          <a:solidFill>
            <a:srgbClr val="D46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500000" y="3642000"/>
            <a:ext cx="280000" cy="19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mic Sans MS"/>
              </a:rPr>
              <a:t>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900000" y="3640000"/>
            <a:ext cx="46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3C3C3C"/>
                </a:solidFill>
                <a:latin typeface="Calibri"/>
              </a:rPr>
              <a:t>Sheet Mask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600000" y="3890000"/>
            <a:ext cx="10000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500000" y="3930000"/>
            <a:ext cx="280000" cy="280000"/>
          </a:xfrm>
          <a:prstGeom prst="ellipse">
            <a:avLst/>
          </a:prstGeom>
          <a:solidFill>
            <a:srgbClr val="D46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500000" y="3972000"/>
            <a:ext cx="280000" cy="19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mic Sans MS"/>
              </a:rPr>
              <a:t>7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00000" y="3970000"/>
            <a:ext cx="46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3C3C3C"/>
                </a:solidFill>
                <a:latin typeface="Calibri"/>
              </a:rPr>
              <a:t>Eye Cream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600000" y="4220000"/>
            <a:ext cx="10000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500000" y="4260000"/>
            <a:ext cx="280000" cy="280000"/>
          </a:xfrm>
          <a:prstGeom prst="ellipse">
            <a:avLst/>
          </a:prstGeom>
          <a:solidFill>
            <a:srgbClr val="D46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500000" y="4302000"/>
            <a:ext cx="280000" cy="19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mic Sans MS"/>
              </a:rPr>
              <a:t>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900000" y="4300000"/>
            <a:ext cx="46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3C3C3C"/>
                </a:solidFill>
                <a:latin typeface="Calibri"/>
              </a:rPr>
              <a:t>Night Cream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200000"/>
            <a:ext cx="110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3C3C3C"/>
                </a:solidFill>
                <a:latin typeface="Comic Sans MS"/>
              </a:rPr>
              <a:t>Hero Ingredients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680000"/>
            <a:ext cx="2800000" cy="18288"/>
          </a:xfrm>
          <a:prstGeom prst="rect">
            <a:avLst/>
          </a:prstGeom>
          <a:solidFill>
            <a:srgbClr val="D46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0000" y="950000"/>
            <a:ext cx="5400000" cy="1700000"/>
          </a:xfrm>
          <a:prstGeom prst="rect">
            <a:avLst/>
          </a:prstGeom>
          <a:noFill/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0000" y="920000"/>
            <a:ext cx="1800000" cy="80000"/>
          </a:xfrm>
          <a:prstGeom prst="rect">
            <a:avLst/>
          </a:prstGeom>
          <a:solidFill>
            <a:srgbClr val="D46A3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50000" y="1150000"/>
            <a:ext cx="350000" cy="350000"/>
          </a:xfrm>
          <a:prstGeom prst="ellipse">
            <a:avLst/>
          </a:prstGeom>
          <a:solidFill>
            <a:srgbClr val="D46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0000" y="1202500"/>
            <a:ext cx="350000" cy="244999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mic Sans M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1150000"/>
            <a:ext cx="46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3C3C3C"/>
                </a:solidFill>
                <a:latin typeface="Comic Sans MS"/>
              </a:rPr>
              <a:t>Snail Mucin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0" y="1600000"/>
            <a:ext cx="4600000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2B4570"/>
                </a:solidFill>
                <a:latin typeface="Calibri"/>
              </a:rPr>
              <a:t>Hydration + repair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0000" y="950000"/>
            <a:ext cx="5400000" cy="1700000"/>
          </a:xfrm>
          <a:prstGeom prst="rect">
            <a:avLst/>
          </a:prstGeom>
          <a:noFill/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50000" y="920000"/>
            <a:ext cx="1800000" cy="80000"/>
          </a:xfrm>
          <a:prstGeom prst="rect">
            <a:avLst/>
          </a:prstGeom>
          <a:solidFill>
            <a:srgbClr val="2B457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000" y="1150000"/>
            <a:ext cx="350000" cy="350000"/>
          </a:xfrm>
          <a:prstGeom prst="ellipse">
            <a:avLst/>
          </a:prstGeom>
          <a:solidFill>
            <a:srgbClr val="2B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0" y="1202500"/>
            <a:ext cx="350000" cy="244999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mic Sans M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0000" y="1150000"/>
            <a:ext cx="46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3C3C3C"/>
                </a:solidFill>
                <a:latin typeface="Comic Sans MS"/>
              </a:rPr>
              <a:t>Niacinamide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0000" y="1600000"/>
            <a:ext cx="4600000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2B4570"/>
                </a:solidFill>
                <a:latin typeface="Calibri"/>
              </a:rPr>
              <a:t>Brightening + pore care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0000" y="2850000"/>
            <a:ext cx="5400000" cy="1700000"/>
          </a:xfrm>
          <a:prstGeom prst="rect">
            <a:avLst/>
          </a:prstGeom>
          <a:noFill/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0000" y="2820000"/>
            <a:ext cx="1800000" cy="80000"/>
          </a:xfrm>
          <a:prstGeom prst="rect">
            <a:avLst/>
          </a:prstGeom>
          <a:solidFill>
            <a:srgbClr val="D46A3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50000" y="3050000"/>
            <a:ext cx="350000" cy="350000"/>
          </a:xfrm>
          <a:prstGeom prst="ellipse">
            <a:avLst/>
          </a:prstGeom>
          <a:solidFill>
            <a:srgbClr val="D46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0000" y="3102500"/>
            <a:ext cx="350000" cy="244999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mic Sans M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0000" y="3050000"/>
            <a:ext cx="46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3C3C3C"/>
                </a:solidFill>
                <a:latin typeface="Comic Sans MS"/>
              </a:rPr>
              <a:t>Centella Asiatica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0000" y="3500000"/>
            <a:ext cx="4600000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2B4570"/>
                </a:solidFill>
                <a:latin typeface="Calibri"/>
              </a:rPr>
              <a:t>Calming + anti-inflammatory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0000" y="2850000"/>
            <a:ext cx="5400000" cy="1700000"/>
          </a:xfrm>
          <a:prstGeom prst="rect">
            <a:avLst/>
          </a:prstGeom>
          <a:noFill/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50000" y="2820000"/>
            <a:ext cx="1800000" cy="80000"/>
          </a:xfrm>
          <a:prstGeom prst="rect">
            <a:avLst/>
          </a:prstGeom>
          <a:solidFill>
            <a:srgbClr val="2B457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0000" y="3050000"/>
            <a:ext cx="350000" cy="350000"/>
          </a:xfrm>
          <a:prstGeom prst="ellipse">
            <a:avLst/>
          </a:prstGeom>
          <a:solidFill>
            <a:srgbClr val="2B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0000" y="3102500"/>
            <a:ext cx="350000" cy="244999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mic Sans M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0000" y="3050000"/>
            <a:ext cx="46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3C3C3C"/>
                </a:solidFill>
                <a:latin typeface="Comic Sans MS"/>
              </a:rPr>
              <a:t>Rice Extract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0000" y="3500000"/>
            <a:ext cx="4600000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2B4570"/>
                </a:solidFill>
                <a:latin typeface="Calibri"/>
              </a:rPr>
              <a:t>Even skin tone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00000" y="4750000"/>
            <a:ext cx="6200000" cy="1400000"/>
          </a:xfrm>
          <a:prstGeom prst="rect">
            <a:avLst/>
          </a:prstGeom>
          <a:noFill/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50000" y="4720000"/>
            <a:ext cx="1800000" cy="80000"/>
          </a:xfrm>
          <a:prstGeom prst="rect">
            <a:avLst/>
          </a:prstGeom>
          <a:solidFill>
            <a:srgbClr val="D46A3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50000" y="4950000"/>
            <a:ext cx="350000" cy="350000"/>
          </a:xfrm>
          <a:prstGeom prst="ellipse">
            <a:avLst/>
          </a:prstGeom>
          <a:solidFill>
            <a:srgbClr val="D46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50000" y="5002500"/>
            <a:ext cx="350000" cy="244999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mic Sans M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0000" y="4950000"/>
            <a:ext cx="54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3C3C3C"/>
                </a:solidFill>
                <a:latin typeface="Comic Sans MS"/>
              </a:rPr>
              <a:t>Propolis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0000" y="5400000"/>
            <a:ext cx="5400000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2B4570"/>
                </a:solidFill>
                <a:latin typeface="Calibri"/>
              </a:rPr>
              <a:t>Antibacterial + glow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1500" y="6200000"/>
            <a:ext cx="11050000" cy="450000"/>
          </a:xfrm>
          <a:prstGeom prst="rect">
            <a:avLst/>
          </a:prstGeom>
          <a:noFill/>
          <a:ln w="19050">
            <a:solidFill>
              <a:srgbClr val="D46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0000" y="6260000"/>
            <a:ext cx="107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D46A3C"/>
                </a:solidFill>
                <a:latin typeface="Comic Sans MS"/>
              </a:rPr>
              <a:t>Market: $13.2B in 2025  →  $21.8B by 2030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200000"/>
            <a:ext cx="110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3C3C3C"/>
                </a:solidFill>
                <a:latin typeface="Comic Sans MS"/>
              </a:rPr>
              <a:t>Global Impact by the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680000"/>
            <a:ext cx="3500000" cy="18288"/>
          </a:xfrm>
          <a:prstGeom prst="rect">
            <a:avLst/>
          </a:prstGeom>
          <a:solidFill>
            <a:srgbClr val="D46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0000" y="900000"/>
            <a:ext cx="3500000" cy="2400000"/>
          </a:xfrm>
          <a:prstGeom prst="rect">
            <a:avLst/>
          </a:prstGeom>
          <a:noFill/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1100000"/>
            <a:ext cx="31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D46A3C"/>
                </a:solidFill>
                <a:latin typeface="Comic Sans MS"/>
              </a:rPr>
              <a:t>$13.2B</a:t>
            </a:r>
          </a:p>
        </p:txBody>
      </p:sp>
      <p:sp>
        <p:nvSpPr>
          <p:cNvPr id="6" name="Rectangle 5"/>
          <p:cNvSpPr/>
          <p:nvPr/>
        </p:nvSpPr>
        <p:spPr>
          <a:xfrm>
            <a:off x="800000" y="1750000"/>
            <a:ext cx="2700000" cy="18288"/>
          </a:xfrm>
          <a:prstGeom prst="rect">
            <a:avLst/>
          </a:prstGeom>
          <a:solidFill>
            <a:srgbClr val="D46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1900000"/>
            <a:ext cx="31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3C3C3C"/>
                </a:solidFill>
                <a:latin typeface="Comic Sans MS"/>
              </a:rP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2400000"/>
            <a:ext cx="3100000" cy="7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2B4570"/>
                </a:solidFill>
                <a:latin typeface="Calibri"/>
              </a:rPr>
              <a:t>2,800+ brands in South Korea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0000" y="900000"/>
            <a:ext cx="3500000" cy="2400000"/>
          </a:xfrm>
          <a:prstGeom prst="rect">
            <a:avLst/>
          </a:prstGeom>
          <a:noFill/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0000" y="1100000"/>
            <a:ext cx="31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2B4570"/>
                </a:solidFill>
                <a:latin typeface="Comic Sans MS"/>
              </a:rPr>
              <a:t>400%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00000" y="1750000"/>
            <a:ext cx="2700000" cy="18288"/>
          </a:xfrm>
          <a:prstGeom prst="rect">
            <a:avLst/>
          </a:prstGeom>
          <a:solidFill>
            <a:srgbClr val="2B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0000" y="1900000"/>
            <a:ext cx="31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3C3C3C"/>
                </a:solidFill>
                <a:latin typeface="Comic Sans MS"/>
              </a:rPr>
              <a:t>Import 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0000" y="2400000"/>
            <a:ext cx="3100000" cy="7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2B4570"/>
                </a:solidFill>
                <a:latin typeface="Calibri"/>
              </a:rPr>
              <a:t>US K-Beauty imports since 2015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0000" y="900000"/>
            <a:ext cx="3500000" cy="2400000"/>
          </a:xfrm>
          <a:prstGeom prst="rect">
            <a:avLst/>
          </a:prstGeom>
          <a:noFill/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0" y="1100000"/>
            <a:ext cx="31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D46A3C"/>
                </a:solidFill>
                <a:latin typeface="Comic Sans MS"/>
              </a:rPr>
              <a:t>48B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00000" y="1750000"/>
            <a:ext cx="2700000" cy="18288"/>
          </a:xfrm>
          <a:prstGeom prst="rect">
            <a:avLst/>
          </a:prstGeom>
          <a:solidFill>
            <a:srgbClr val="D46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0" y="1900000"/>
            <a:ext cx="31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3C3C3C"/>
                </a:solidFill>
                <a:latin typeface="Comic Sans MS"/>
              </a:rPr>
              <a:t>TikTok 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0000" y="2400000"/>
            <a:ext cx="3100000" cy="7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2B4570"/>
                </a:solidFill>
                <a:latin typeface="Calibri"/>
              </a:rPr>
              <a:t>#KBeauty global reach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00000" y="3550000"/>
            <a:ext cx="4000000" cy="2400000"/>
          </a:xfrm>
          <a:prstGeom prst="rect">
            <a:avLst/>
          </a:prstGeom>
          <a:noFill/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00000" y="3750000"/>
            <a:ext cx="36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2B4570"/>
                </a:solidFill>
                <a:latin typeface="Comic Sans MS"/>
              </a:rPr>
              <a:t>$230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00000" y="4400000"/>
            <a:ext cx="3000000" cy="18288"/>
          </a:xfrm>
          <a:prstGeom prst="rect">
            <a:avLst/>
          </a:prstGeom>
          <a:solidFill>
            <a:srgbClr val="2B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00000" y="4550000"/>
            <a:ext cx="36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3C3C3C"/>
                </a:solidFill>
                <a:latin typeface="Comic Sans MS"/>
              </a:rPr>
              <a:t>Annual Spend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0000" y="5050000"/>
            <a:ext cx="3600000" cy="7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2B4570"/>
                </a:solidFill>
                <a:latin typeface="Calibri"/>
              </a:rPr>
              <a:t>Korea per capita vs $110 in 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00000" y="3550000"/>
            <a:ext cx="4000000" cy="2400000"/>
          </a:xfrm>
          <a:prstGeom prst="rect">
            <a:avLst/>
          </a:prstGeom>
          <a:noFill/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0000" y="3750000"/>
            <a:ext cx="36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D46A3C"/>
                </a:solidFill>
                <a:latin typeface="Comic Sans MS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00000" y="4400000"/>
            <a:ext cx="3000000" cy="18288"/>
          </a:xfrm>
          <a:prstGeom prst="rect">
            <a:avLst/>
          </a:prstGeom>
          <a:solidFill>
            <a:srgbClr val="D46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0000" y="4550000"/>
            <a:ext cx="36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3C3C3C"/>
                </a:solidFill>
                <a:latin typeface="Comic Sans MS"/>
              </a:rPr>
              <a:t>Top Markets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0000" y="5050000"/>
            <a:ext cx="3600000" cy="7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2B4570"/>
                </a:solidFill>
                <a:latin typeface="Calibri"/>
              </a:rPr>
              <a:t>China, US, Japan, SE Asia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" y="6200000"/>
            <a:ext cx="1105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1">
                <a:solidFill>
                  <a:srgbClr val="A0A0A0"/>
                </a:solidFill>
                <a:latin typeface="Calibri"/>
              </a:rPr>
              <a:t>Sources: Statista, Korea Customs, TikTok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000000" y="1500000"/>
            <a:ext cx="6200000" cy="80000"/>
          </a:xfrm>
          <a:prstGeom prst="rect">
            <a:avLst/>
          </a:prstGeom>
          <a:solidFill>
            <a:srgbClr val="D46A3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00000" y="1400000"/>
            <a:ext cx="5200000" cy="80000"/>
          </a:xfrm>
          <a:prstGeom prst="rect">
            <a:avLst/>
          </a:prstGeom>
          <a:solidFill>
            <a:srgbClr val="2B457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0" y="2200000"/>
            <a:ext cx="920000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 i="0">
                <a:solidFill>
                  <a:srgbClr val="3C3C3C"/>
                </a:solidFill>
                <a:latin typeface="Comic Sans MS"/>
              </a:rPr>
              <a:t>Your Skin, Your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0000" y="3200000"/>
            <a:ext cx="4200000" cy="18288"/>
          </a:xfrm>
          <a:prstGeom prst="rect">
            <a:avLst/>
          </a:prstGeom>
          <a:solidFill>
            <a:srgbClr val="D46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0000" y="3500000"/>
            <a:ext cx="92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 i="1">
                <a:solidFill>
                  <a:srgbClr val="2B4570"/>
                </a:solidFill>
                <a:latin typeface="Calibri"/>
              </a:rPr>
              <a:t>The future of beauty is personal,
science-driven, and inclusive</a:t>
            </a:r>
          </a:p>
        </p:txBody>
      </p:sp>
      <p:sp>
        <p:nvSpPr>
          <p:cNvPr id="7" name="Oval 6"/>
          <p:cNvSpPr/>
          <p:nvPr/>
        </p:nvSpPr>
        <p:spPr>
          <a:xfrm>
            <a:off x="400000" y="5500000"/>
            <a:ext cx="300000" cy="300000"/>
          </a:xfrm>
          <a:prstGeom prst="ellipse">
            <a:avLst/>
          </a:prstGeom>
          <a:noFill/>
          <a:ln w="19050">
            <a:solidFill>
              <a:srgbClr val="D46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00000" y="5300000"/>
            <a:ext cx="300000" cy="300000"/>
          </a:xfrm>
          <a:prstGeom prst="ellipse">
            <a:avLst/>
          </a:prstGeom>
          <a:noFill/>
          <a:ln w="19050">
            <a:solidFill>
              <a:srgbClr val="2B4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0000" y="300000"/>
            <a:ext cx="300000" cy="300000"/>
          </a:xfrm>
          <a:prstGeom prst="ellipse">
            <a:avLst/>
          </a:prstGeom>
          <a:noFill/>
          <a:ln w="190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00000" y="400000"/>
            <a:ext cx="300000" cy="300000"/>
          </a:xfrm>
          <a:prstGeom prst="ellipse">
            <a:avLst/>
          </a:prstGeom>
          <a:noFill/>
          <a:ln w="19050">
            <a:solidFill>
              <a:srgbClr val="D46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0000" y="5800000"/>
            <a:ext cx="45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600" b="0" i="1">
                <a:solidFill>
                  <a:srgbClr val="A0A0A0"/>
                </a:solidFill>
                <a:latin typeface="Noteworthy"/>
              </a:rPr>
              <a:t>~ thank you ~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