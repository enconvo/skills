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1500" y="300000"/>
            <a:ext cx="11050000" cy="571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1500" y="600000"/>
            <a:ext cx="11050000" cy="267335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5400" b="1" i="0">
                <a:solidFill>
                  <a:srgbClr val="0A0A0A"/>
                </a:solidFill>
                <a:latin typeface="Georgia"/>
              </a:rPr>
              <a:t>The
K-Beauty
Revolution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3600000"/>
            <a:ext cx="400000" cy="40000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0000" y="3650000"/>
            <a:ext cx="104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0" i="1">
                <a:solidFill>
                  <a:srgbClr val="0A0A0A"/>
                </a:solidFill>
                <a:latin typeface="Georgia"/>
              </a:rPr>
              <a:t>How Korea Redefined Skincare for the World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6200000"/>
            <a:ext cx="11050000" cy="571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" y="6350000"/>
            <a:ext cx="5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757575"/>
                </a:solidFill>
                <a:latin typeface="Calibri"/>
              </a:rPr>
              <a:t>Market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0" y="6350000"/>
            <a:ext cx="46215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0" i="0">
                <a:solidFill>
                  <a:srgbClr val="757575"/>
                </a:solidFill>
                <a:latin typeface="Calibri"/>
              </a:rPr>
              <a:t>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0000"/>
            <a:ext cx="5000000" cy="21971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 i="0">
                <a:solidFill>
                  <a:srgbClr val="FFFFFF"/>
                </a:solidFill>
                <a:latin typeface="Georgia"/>
              </a:rPr>
              <a:t>The
10-Step
Routine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650000"/>
            <a:ext cx="2000000" cy="36576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2547900"/>
            <a:ext cx="5000000" cy="8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1">
                <a:solidFill>
                  <a:srgbClr val="FFD600"/>
                </a:solidFill>
                <a:latin typeface="Georgia"/>
              </a:rPr>
              <a:t>92% of Korean women
follow multi-step vs 35% in the US</a:t>
            </a:r>
          </a:p>
        </p:txBody>
      </p:sp>
      <p:sp>
        <p:nvSpPr>
          <p:cNvPr id="5" name="Rectangle 4"/>
          <p:cNvSpPr/>
          <p:nvPr/>
        </p:nvSpPr>
        <p:spPr>
          <a:xfrm>
            <a:off x="5800000" y="300000"/>
            <a:ext cx="57150" cy="625800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0" y="300000"/>
            <a:ext cx="25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FFD600"/>
                </a:solidFill>
                <a:latin typeface="Calibri"/>
              </a:rPr>
              <a:t>MORNING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200000" y="680000"/>
            <a:ext cx="2300000" cy="18288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00000" y="850000"/>
            <a:ext cx="2500000" cy="28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Georgia"/>
              </a:rPr>
              <a:t/>
            </a:r>
            <a:r>
              <a:rPr sz="1400" b="1">
                <a:solidFill>
                  <a:srgbClr val="FFD600"/>
                </a:solidFill>
                <a:latin typeface="Calibri"/>
              </a:rPr>
              <a:t>01 </a:t>
            </a:r>
            <a:r>
              <a:rPr sz="1400">
                <a:solidFill>
                  <a:srgbClr val="FFFFFF"/>
                </a:solidFill>
                <a:latin typeface="Georgia"/>
              </a:rPr>
              <a:t>Oil Cleanser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0000" y="1150000"/>
            <a:ext cx="2500000" cy="28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Georgia"/>
              </a:rPr>
              <a:t/>
            </a:r>
            <a:r>
              <a:rPr sz="1400" b="1">
                <a:solidFill>
                  <a:srgbClr val="FFD600"/>
                </a:solidFill>
                <a:latin typeface="Calibri"/>
              </a:rPr>
              <a:t>02 </a:t>
            </a:r>
            <a:r>
              <a:rPr sz="1400">
                <a:solidFill>
                  <a:srgbClr val="FFFFFF"/>
                </a:solidFill>
                <a:latin typeface="Georgia"/>
              </a:rPr>
              <a:t>Water Cleanser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0000" y="1450000"/>
            <a:ext cx="2500000" cy="28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Georgia"/>
              </a:rPr>
              <a:t/>
            </a:r>
            <a:r>
              <a:rPr sz="1400" b="1">
                <a:solidFill>
                  <a:srgbClr val="FFD600"/>
                </a:solidFill>
                <a:latin typeface="Calibri"/>
              </a:rPr>
              <a:t>03 </a:t>
            </a:r>
            <a:r>
              <a:rPr sz="1400">
                <a:solidFill>
                  <a:srgbClr val="FFFFFF"/>
                </a:solidFill>
                <a:latin typeface="Georgia"/>
              </a:rPr>
              <a:t>Toner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0000" y="1750000"/>
            <a:ext cx="2500000" cy="28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Georgia"/>
              </a:rPr>
              <a:t/>
            </a:r>
            <a:r>
              <a:rPr sz="1400" b="1">
                <a:solidFill>
                  <a:srgbClr val="FFD600"/>
                </a:solidFill>
                <a:latin typeface="Calibri"/>
              </a:rPr>
              <a:t>04 </a:t>
            </a:r>
            <a:r>
              <a:rPr sz="1400">
                <a:solidFill>
                  <a:srgbClr val="FFFFFF"/>
                </a:solidFill>
                <a:latin typeface="Georgia"/>
              </a:rPr>
              <a:t>Essence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0000" y="2050000"/>
            <a:ext cx="2500000" cy="28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Georgia"/>
              </a:rPr>
              <a:t/>
            </a:r>
            <a:r>
              <a:rPr sz="1400" b="1">
                <a:solidFill>
                  <a:srgbClr val="FFD600"/>
                </a:solidFill>
                <a:latin typeface="Calibri"/>
              </a:rPr>
              <a:t>05 </a:t>
            </a:r>
            <a:r>
              <a:rPr sz="1400">
                <a:solidFill>
                  <a:srgbClr val="FFFFFF"/>
                </a:solidFill>
                <a:latin typeface="Georgia"/>
              </a:rPr>
              <a:t>Serum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0000" y="2350000"/>
            <a:ext cx="2500000" cy="28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Georgia"/>
              </a:rPr>
              <a:t/>
            </a:r>
            <a:r>
              <a:rPr sz="1400" b="1">
                <a:solidFill>
                  <a:srgbClr val="FFD600"/>
                </a:solidFill>
                <a:latin typeface="Calibri"/>
              </a:rPr>
              <a:t>06 </a:t>
            </a:r>
            <a:r>
              <a:rPr sz="1400">
                <a:solidFill>
                  <a:srgbClr val="FFFFFF"/>
                </a:solidFill>
                <a:latin typeface="Georgia"/>
              </a:rPr>
              <a:t>Eye Cream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0000" y="2650000"/>
            <a:ext cx="2500000" cy="28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Georgia"/>
              </a:rPr>
              <a:t/>
            </a:r>
            <a:r>
              <a:rPr sz="1400" b="1">
                <a:solidFill>
                  <a:srgbClr val="FFD600"/>
                </a:solidFill>
                <a:latin typeface="Calibri"/>
              </a:rPr>
              <a:t>07 </a:t>
            </a:r>
            <a:r>
              <a:rPr sz="1400">
                <a:solidFill>
                  <a:srgbClr val="FFFFFF"/>
                </a:solidFill>
                <a:latin typeface="Georgia"/>
              </a:rPr>
              <a:t>Moisturizer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0000" y="2950000"/>
            <a:ext cx="2500000" cy="28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Georgia"/>
              </a:rPr>
              <a:t/>
            </a:r>
            <a:r>
              <a:rPr sz="1400" b="1">
                <a:solidFill>
                  <a:srgbClr val="FFD600"/>
                </a:solidFill>
                <a:latin typeface="Calibri"/>
              </a:rPr>
              <a:t>08 </a:t>
            </a:r>
            <a:r>
              <a:rPr sz="1400">
                <a:solidFill>
                  <a:srgbClr val="FFFFFF"/>
                </a:solidFill>
                <a:latin typeface="Georgia"/>
              </a:rPr>
              <a:t>SPF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0000" y="300000"/>
            <a:ext cx="25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E91E63"/>
                </a:solidFill>
                <a:latin typeface="Calibri"/>
              </a:rPr>
              <a:t>NIGHT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00000" y="680000"/>
            <a:ext cx="2300000" cy="18288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0000" y="850000"/>
            <a:ext cx="2800000" cy="28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Georgia"/>
              </a:rPr>
              <a:t/>
            </a:r>
            <a:r>
              <a:rPr sz="1400" b="1">
                <a:solidFill>
                  <a:srgbClr val="E91E63"/>
                </a:solidFill>
                <a:latin typeface="Calibri"/>
              </a:rPr>
              <a:t>01 </a:t>
            </a:r>
            <a:r>
              <a:rPr sz="1400">
                <a:solidFill>
                  <a:srgbClr val="FFFFFF"/>
                </a:solidFill>
                <a:latin typeface="Georgia"/>
              </a:rPr>
              <a:t>Double Cleanse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0000" y="1150000"/>
            <a:ext cx="2800000" cy="28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Georgia"/>
              </a:rPr>
              <a:t/>
            </a:r>
            <a:r>
              <a:rPr sz="1400" b="1">
                <a:solidFill>
                  <a:srgbClr val="E91E63"/>
                </a:solidFill>
                <a:latin typeface="Calibri"/>
              </a:rPr>
              <a:t>02 </a:t>
            </a:r>
            <a:r>
              <a:rPr sz="1400">
                <a:solidFill>
                  <a:srgbClr val="FFFFFF"/>
                </a:solidFill>
                <a:latin typeface="Georgia"/>
              </a:rPr>
              <a:t>Exfoliant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0000" y="1450000"/>
            <a:ext cx="2800000" cy="28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Georgia"/>
              </a:rPr>
              <a:t/>
            </a:r>
            <a:r>
              <a:rPr sz="1400" b="1">
                <a:solidFill>
                  <a:srgbClr val="E91E63"/>
                </a:solidFill>
                <a:latin typeface="Calibri"/>
              </a:rPr>
              <a:t>03 </a:t>
            </a:r>
            <a:r>
              <a:rPr sz="1400">
                <a:solidFill>
                  <a:srgbClr val="FFFFFF"/>
                </a:solidFill>
                <a:latin typeface="Georgia"/>
              </a:rPr>
              <a:t>Toner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0000" y="1750000"/>
            <a:ext cx="2800000" cy="28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Georgia"/>
              </a:rPr>
              <a:t/>
            </a:r>
            <a:r>
              <a:rPr sz="1400" b="1">
                <a:solidFill>
                  <a:srgbClr val="E91E63"/>
                </a:solidFill>
                <a:latin typeface="Calibri"/>
              </a:rPr>
              <a:t>04 </a:t>
            </a:r>
            <a:r>
              <a:rPr sz="1400">
                <a:solidFill>
                  <a:srgbClr val="FFFFFF"/>
                </a:solidFill>
                <a:latin typeface="Georgia"/>
              </a:rPr>
              <a:t>Essence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0000" y="2050000"/>
            <a:ext cx="2800000" cy="28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Georgia"/>
              </a:rPr>
              <a:t/>
            </a:r>
            <a:r>
              <a:rPr sz="1400" b="1">
                <a:solidFill>
                  <a:srgbClr val="E91E63"/>
                </a:solidFill>
                <a:latin typeface="Calibri"/>
              </a:rPr>
              <a:t>05 </a:t>
            </a:r>
            <a:r>
              <a:rPr sz="1400">
                <a:solidFill>
                  <a:srgbClr val="FFFFFF"/>
                </a:solidFill>
                <a:latin typeface="Georgia"/>
              </a:rPr>
              <a:t>Ampoule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0000" y="2350000"/>
            <a:ext cx="2800000" cy="28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Georgia"/>
              </a:rPr>
              <a:t/>
            </a:r>
            <a:r>
              <a:rPr sz="1400" b="1">
                <a:solidFill>
                  <a:srgbClr val="E91E63"/>
                </a:solidFill>
                <a:latin typeface="Calibri"/>
              </a:rPr>
              <a:t>06 </a:t>
            </a:r>
            <a:r>
              <a:rPr sz="1400">
                <a:solidFill>
                  <a:srgbClr val="FFFFFF"/>
                </a:solidFill>
                <a:latin typeface="Georgia"/>
              </a:rPr>
              <a:t>Sheet Mask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0000" y="2650000"/>
            <a:ext cx="2800000" cy="28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Georgia"/>
              </a:rPr>
              <a:t/>
            </a:r>
            <a:r>
              <a:rPr sz="1400" b="1">
                <a:solidFill>
                  <a:srgbClr val="E91E63"/>
                </a:solidFill>
                <a:latin typeface="Calibri"/>
              </a:rPr>
              <a:t>07 </a:t>
            </a:r>
            <a:r>
              <a:rPr sz="1400">
                <a:solidFill>
                  <a:srgbClr val="FFFFFF"/>
                </a:solidFill>
                <a:latin typeface="Georgia"/>
              </a:rPr>
              <a:t>Eye Cream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0000" y="2950000"/>
            <a:ext cx="2800000" cy="28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Georgia"/>
              </a:rPr>
              <a:t/>
            </a:r>
            <a:r>
              <a:rPr sz="1400" b="1">
                <a:solidFill>
                  <a:srgbClr val="E91E63"/>
                </a:solidFill>
                <a:latin typeface="Calibri"/>
              </a:rPr>
              <a:t>08 </a:t>
            </a:r>
            <a:r>
              <a:rPr sz="1400">
                <a:solidFill>
                  <a:srgbClr val="FFFFFF"/>
                </a:solidFill>
                <a:latin typeface="Georgia"/>
              </a:rPr>
              <a:t>Night Cream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" y="6400000"/>
            <a:ext cx="1105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1">
                <a:solidFill>
                  <a:srgbClr val="757575"/>
                </a:solidFill>
                <a:latin typeface="Georgia"/>
              </a:rPr>
              <a:t>The K-Beauty ritual is as much philosophy as practice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00000"/>
            <a:ext cx="4500000" cy="1625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800" b="1" i="0">
                <a:solidFill>
                  <a:srgbClr val="0A0A0A"/>
                </a:solidFill>
                <a:latin typeface="Georgia"/>
              </a:rPr>
              <a:t>Hero
Ingredients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650000"/>
            <a:ext cx="2000000" cy="36576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1500" y="1976400"/>
            <a:ext cx="45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1">
                <a:solidFill>
                  <a:srgbClr val="E91E63"/>
                </a:solidFill>
                <a:latin typeface="Georgia"/>
              </a:rPr>
              <a:t>$13.2B market in 2025
projected $21.8B by 2030</a:t>
            </a:r>
          </a:p>
        </p:txBody>
      </p:sp>
      <p:sp>
        <p:nvSpPr>
          <p:cNvPr id="5" name="Rectangle 4"/>
          <p:cNvSpPr/>
          <p:nvPr/>
        </p:nvSpPr>
        <p:spPr>
          <a:xfrm>
            <a:off x="5500000" y="0"/>
            <a:ext cx="6692000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00000" y="500000"/>
            <a:ext cx="5800000" cy="18288"/>
          </a:xfrm>
          <a:prstGeom prst="rect">
            <a:avLst/>
          </a:prstGeom>
          <a:solidFill>
            <a:srgbClr val="3038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00000" y="550000"/>
            <a:ext cx="5800000" cy="4191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Georgia"/>
              </a:rPr>
              <a:t/>
            </a:r>
            <a:r>
              <a:rPr sz="2000" b="1">
                <a:solidFill>
                  <a:srgbClr val="FFD600"/>
                </a:solidFill>
                <a:latin typeface="Calibri"/>
              </a:rPr>
              <a:t>01  </a:t>
            </a:r>
            <a:r>
              <a:rPr sz="2000" b="1">
                <a:solidFill>
                  <a:srgbClr val="FFFFFF"/>
                </a:solidFill>
                <a:latin typeface="Georgia"/>
              </a:rPr>
              <a:t>Snail Mucin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0000" y="1019900"/>
            <a:ext cx="51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CCCCDD"/>
                </a:solidFill>
                <a:latin typeface="Georgia"/>
              </a:rPr>
              <a:t>Hydration + repair</a:t>
            </a:r>
          </a:p>
        </p:txBody>
      </p:sp>
      <p:sp>
        <p:nvSpPr>
          <p:cNvPr id="9" name="Rectangle 8"/>
          <p:cNvSpPr/>
          <p:nvPr/>
        </p:nvSpPr>
        <p:spPr>
          <a:xfrm>
            <a:off x="5900000" y="1600000"/>
            <a:ext cx="5800000" cy="18288"/>
          </a:xfrm>
          <a:prstGeom prst="rect">
            <a:avLst/>
          </a:prstGeom>
          <a:solidFill>
            <a:srgbClr val="3038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00000" y="1650000"/>
            <a:ext cx="5800000" cy="4191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Georgia"/>
              </a:rPr>
              <a:t/>
            </a:r>
            <a:r>
              <a:rPr sz="2000" b="1">
                <a:solidFill>
                  <a:srgbClr val="FFD600"/>
                </a:solidFill>
                <a:latin typeface="Calibri"/>
              </a:rPr>
              <a:t>02  </a:t>
            </a:r>
            <a:r>
              <a:rPr sz="2000" b="1">
                <a:solidFill>
                  <a:srgbClr val="FFFFFF"/>
                </a:solidFill>
                <a:latin typeface="Georgia"/>
              </a:rPr>
              <a:t>Niacinamide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0000" y="2119900"/>
            <a:ext cx="51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CCCCDD"/>
                </a:solidFill>
                <a:latin typeface="Georgia"/>
              </a:rPr>
              <a:t>Brightening + pore care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00000" y="2700000"/>
            <a:ext cx="5800000" cy="18288"/>
          </a:xfrm>
          <a:prstGeom prst="rect">
            <a:avLst/>
          </a:prstGeom>
          <a:solidFill>
            <a:srgbClr val="3038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00000" y="2750000"/>
            <a:ext cx="5800000" cy="4191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Georgia"/>
              </a:rPr>
              <a:t/>
            </a:r>
            <a:r>
              <a:rPr sz="2000" b="1">
                <a:solidFill>
                  <a:srgbClr val="FFD600"/>
                </a:solidFill>
                <a:latin typeface="Calibri"/>
              </a:rPr>
              <a:t>03  </a:t>
            </a:r>
            <a:r>
              <a:rPr sz="2000" b="1">
                <a:solidFill>
                  <a:srgbClr val="FFFFFF"/>
                </a:solidFill>
                <a:latin typeface="Georgia"/>
              </a:rPr>
              <a:t>Centella Asiatica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19900"/>
            <a:ext cx="51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CCCCDD"/>
                </a:solidFill>
                <a:latin typeface="Georgia"/>
              </a:rPr>
              <a:t>Calming + anti-inflammatory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00000" y="3800000"/>
            <a:ext cx="5800000" cy="18288"/>
          </a:xfrm>
          <a:prstGeom prst="rect">
            <a:avLst/>
          </a:prstGeom>
          <a:solidFill>
            <a:srgbClr val="3038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00000" y="3850000"/>
            <a:ext cx="5800000" cy="4191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Georgia"/>
              </a:rPr>
              <a:t/>
            </a:r>
            <a:r>
              <a:rPr sz="2000" b="1">
                <a:solidFill>
                  <a:srgbClr val="FFD600"/>
                </a:solidFill>
                <a:latin typeface="Calibri"/>
              </a:rPr>
              <a:t>04  </a:t>
            </a:r>
            <a:r>
              <a:rPr sz="2000" b="1">
                <a:solidFill>
                  <a:srgbClr val="FFFFFF"/>
                </a:solidFill>
                <a:latin typeface="Georgia"/>
              </a:rPr>
              <a:t>Rice Extract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0000" y="4319900"/>
            <a:ext cx="51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CCCCDD"/>
                </a:solidFill>
                <a:latin typeface="Georgia"/>
              </a:rPr>
              <a:t>Even skin tone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00000" y="4900000"/>
            <a:ext cx="5800000" cy="18288"/>
          </a:xfrm>
          <a:prstGeom prst="rect">
            <a:avLst/>
          </a:prstGeom>
          <a:solidFill>
            <a:srgbClr val="3038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00000" y="4950000"/>
            <a:ext cx="5800000" cy="4191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Georgia"/>
              </a:rPr>
              <a:t/>
            </a:r>
            <a:r>
              <a:rPr sz="2000" b="1">
                <a:solidFill>
                  <a:srgbClr val="FFD600"/>
                </a:solidFill>
                <a:latin typeface="Calibri"/>
              </a:rPr>
              <a:t>05  </a:t>
            </a:r>
            <a:r>
              <a:rPr sz="2000" b="1">
                <a:solidFill>
                  <a:srgbClr val="FFFFFF"/>
                </a:solidFill>
                <a:latin typeface="Georgia"/>
              </a:rPr>
              <a:t>Propolis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5419900"/>
            <a:ext cx="51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CCCCDD"/>
                </a:solidFill>
                <a:latin typeface="Georgia"/>
              </a:rPr>
              <a:t>Antibacterial + glow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" y="6400000"/>
            <a:ext cx="45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757575"/>
                </a:solidFill>
                <a:latin typeface="Calibri"/>
              </a:rPr>
              <a:t>Source: Statista, Grand View Research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1500" y="200000"/>
            <a:ext cx="11050000" cy="571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1500" y="350000"/>
            <a:ext cx="11050000" cy="1219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 i="0">
                <a:solidFill>
                  <a:srgbClr val="0A0A0A"/>
                </a:solidFill>
                <a:latin typeface="Georgia"/>
              </a:rPr>
              <a:t>Global Impact
by the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625600"/>
            <a:ext cx="11050000" cy="36576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1790700"/>
            <a:ext cx="250000" cy="80010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54200"/>
            <a:ext cx="3000000" cy="6731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600" b="1" i="0">
                <a:solidFill>
                  <a:srgbClr val="0A0A0A"/>
                </a:solidFill>
                <a:latin typeface="Georgia"/>
              </a:rPr>
              <a:t>$13.2B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0000" y="2146300"/>
            <a:ext cx="3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0A0A0A"/>
                </a:solidFill>
                <a:latin typeface="Georgia"/>
              </a:rPr>
              <a:t>Market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0000" y="1841500"/>
            <a:ext cx="74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757575"/>
                </a:solidFill>
                <a:latin typeface="Georgia"/>
              </a:rPr>
              <a:t>2,800+ brands in South Korea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" y="2616200"/>
            <a:ext cx="11050000" cy="182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1500" y="2692400"/>
            <a:ext cx="250000" cy="80010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0000" y="2755900"/>
            <a:ext cx="3000000" cy="6731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600" b="1" i="0">
                <a:solidFill>
                  <a:srgbClr val="0A0A0A"/>
                </a:solidFill>
                <a:latin typeface="Georgia"/>
              </a:rPr>
              <a:t>400%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0000" y="3048000"/>
            <a:ext cx="3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0A0A0A"/>
                </a:solidFill>
                <a:latin typeface="Georgia"/>
              </a:rPr>
              <a:t>Import Growth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0000" y="2743200"/>
            <a:ext cx="74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757575"/>
                </a:solidFill>
                <a:latin typeface="Georgia"/>
              </a:rPr>
              <a:t>US K-Beauty imports since 2015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1500" y="3517900"/>
            <a:ext cx="11050000" cy="182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1500" y="3594100"/>
            <a:ext cx="250000" cy="8001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0000" y="3657600"/>
            <a:ext cx="3000000" cy="6731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600" b="1" i="0">
                <a:solidFill>
                  <a:srgbClr val="0A0A0A"/>
                </a:solidFill>
                <a:latin typeface="Georgia"/>
              </a:rPr>
              <a:t>48B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0000" y="3949700"/>
            <a:ext cx="3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0A0A0A"/>
                </a:solidFill>
                <a:latin typeface="Georgia"/>
              </a:rPr>
              <a:t>TikTok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0000" y="3644900"/>
            <a:ext cx="74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757575"/>
                </a:solidFill>
                <a:latin typeface="Georgia"/>
              </a:rPr>
              <a:t>#KBeauty global reach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4419600"/>
            <a:ext cx="11050000" cy="182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" y="4495800"/>
            <a:ext cx="250000" cy="80010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000" y="4559300"/>
            <a:ext cx="3000000" cy="6731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600" b="1" i="0">
                <a:solidFill>
                  <a:srgbClr val="0A0A0A"/>
                </a:solidFill>
                <a:latin typeface="Georgia"/>
              </a:rPr>
              <a:t>$230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0000" y="4851400"/>
            <a:ext cx="3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0A0A0A"/>
                </a:solidFill>
                <a:latin typeface="Georgia"/>
              </a:rPr>
              <a:t>Annual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0000" y="4546600"/>
            <a:ext cx="74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757575"/>
                </a:solidFill>
                <a:latin typeface="Georgia"/>
              </a:rPr>
              <a:t>Korea per capita vs $110 in US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1500" y="5321300"/>
            <a:ext cx="11050000" cy="182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1500" y="5397500"/>
            <a:ext cx="250000" cy="80010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0000" y="5461000"/>
            <a:ext cx="3000000" cy="6731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600" b="1" i="0">
                <a:solidFill>
                  <a:srgbClr val="0A0A0A"/>
                </a:solidFill>
                <a:latin typeface="Georgia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0000" y="5753100"/>
            <a:ext cx="3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0A0A0A"/>
                </a:solidFill>
                <a:latin typeface="Georgia"/>
              </a:rPr>
              <a:t>Top Markets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0000" y="5448300"/>
            <a:ext cx="74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757575"/>
                </a:solidFill>
                <a:latin typeface="Georgia"/>
              </a:rPr>
              <a:t>China, US, Japan, Southeast Asia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1500" y="6223000"/>
            <a:ext cx="11050000" cy="182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1500" y="6489700"/>
            <a:ext cx="1105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757575"/>
                </a:solidFill>
                <a:latin typeface="Calibri"/>
              </a:rPr>
              <a:t>Source: Statista, Korea Customs Service, TikTok Analytics,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1500" y="400000"/>
            <a:ext cx="11050000" cy="5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1500" y="1500000"/>
            <a:ext cx="11050000" cy="18161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5400" b="1" i="0">
                <a:solidFill>
                  <a:srgbClr val="FFFFFF"/>
                </a:solidFill>
                <a:latin typeface="Georgia"/>
              </a:rPr>
              <a:t>Your Skin,
Your 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3800000"/>
            <a:ext cx="400000" cy="40000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0000" y="3850000"/>
            <a:ext cx="10400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0" i="1">
                <a:solidFill>
                  <a:srgbClr val="FFFFFF"/>
                </a:solidFill>
                <a:latin typeface="Georgia"/>
              </a:rPr>
              <a:t>The future of beauty is personal, science-driven, and inclusive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6200000"/>
            <a:ext cx="11050000" cy="5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" y="6350000"/>
            <a:ext cx="5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757575"/>
                </a:solidFill>
                <a:latin typeface="Calibri"/>
              </a:rPr>
              <a:t>K-Beauty Market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0" y="6350000"/>
            <a:ext cx="46215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0" i="0">
                <a:solidFill>
                  <a:srgbClr val="757575"/>
                </a:solidFill>
                <a:latin typeface="Calibri"/>
              </a:rPr>
              <a:t>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