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300000"/>
            <a:ext cx="11050000" cy="571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600000"/>
            <a:ext cx="11050000" cy="1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1" i="0">
                <a:solidFill>
                  <a:srgbClr val="0A0A0A"/>
                </a:solidFill>
                <a:latin typeface="Georgia"/>
              </a:rPr>
              <a:t>The
K-Beauty
Revolution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600000"/>
            <a:ext cx="400000" cy="400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0000" y="3650000"/>
            <a:ext cx="104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0A0A0A"/>
                </a:solidFill>
                <a:latin typeface="Georgia"/>
              </a:rPr>
              <a:t>How Korea Redefined Skincare for the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6200000"/>
            <a:ext cx="11050000" cy="571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350000"/>
            <a:ext cx="5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Calibri"/>
              </a:rPr>
              <a:t>Market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6350000"/>
            <a:ext cx="46215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0" i="0">
                <a:solidFill>
                  <a:srgbClr val="757575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0000"/>
            <a:ext cx="5000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The
10-Step
Routine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650000"/>
            <a:ext cx="2000000" cy="36576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900000"/>
            <a:ext cx="50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1">
                <a:solidFill>
                  <a:srgbClr val="FFD600"/>
                </a:solidFill>
                <a:latin typeface="Georgia"/>
              </a:rPr>
              <a:t>92% of Korean women
follow multi-step vs 35% in the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00000" y="300000"/>
            <a:ext cx="57150" cy="62580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0" y="300000"/>
            <a:ext cx="2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D600"/>
                </a:solidFill>
                <a:latin typeface="Calibri"/>
              </a:rPr>
              <a:t>MORNING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0000" y="680000"/>
            <a:ext cx="2300000" cy="18288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00000" y="8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01 </a:t>
            </a:r>
            <a:r>
              <a:rPr sz="1400">
                <a:solidFill>
                  <a:srgbClr val="FFFFFF"/>
                </a:solidFill>
                <a:latin typeface="Georgia"/>
              </a:rPr>
              <a:t>Oil Cleanser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11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02 </a:t>
            </a:r>
            <a:r>
              <a:rPr sz="1400">
                <a:solidFill>
                  <a:srgbClr val="FFFFFF"/>
                </a:solidFill>
                <a:latin typeface="Georgia"/>
              </a:rPr>
              <a:t>Water Cleanser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000" y="14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03 </a:t>
            </a:r>
            <a:r>
              <a:rPr sz="1400">
                <a:solidFill>
                  <a:srgbClr val="FFFFFF"/>
                </a:solidFill>
                <a:latin typeface="Georgia"/>
              </a:rPr>
              <a:t>Toner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17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04 </a:t>
            </a:r>
            <a:r>
              <a:rPr sz="1400">
                <a:solidFill>
                  <a:srgbClr val="FFFFFF"/>
                </a:solidFill>
                <a:latin typeface="Georgia"/>
              </a:rPr>
              <a:t>Essence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0" y="20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05 </a:t>
            </a:r>
            <a:r>
              <a:rPr sz="1400">
                <a:solidFill>
                  <a:srgbClr val="FFFFFF"/>
                </a:solidFill>
                <a:latin typeface="Georgia"/>
              </a:rPr>
              <a:t>Serum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23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06 </a:t>
            </a:r>
            <a:r>
              <a:rPr sz="1400">
                <a:solidFill>
                  <a:srgbClr val="FFFFFF"/>
                </a:solidFill>
                <a:latin typeface="Georgia"/>
              </a:rPr>
              <a:t>Eye Cream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26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07 </a:t>
            </a:r>
            <a:r>
              <a:rPr sz="1400">
                <a:solidFill>
                  <a:srgbClr val="FFFFFF"/>
                </a:solidFill>
                <a:latin typeface="Georgia"/>
              </a:rPr>
              <a:t>Moisturizer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2950000"/>
            <a:ext cx="25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FFD600"/>
                </a:solidFill>
                <a:latin typeface="Calibri"/>
              </a:rPr>
              <a:t>08 </a:t>
            </a:r>
            <a:r>
              <a:rPr sz="1400">
                <a:solidFill>
                  <a:srgbClr val="FFFFFF"/>
                </a:solidFill>
                <a:latin typeface="Georgia"/>
              </a:rPr>
              <a:t>SPF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0" y="300000"/>
            <a:ext cx="2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E91E63"/>
                </a:solidFill>
                <a:latin typeface="Calibri"/>
              </a:rPr>
              <a:t>NIGHT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0000" y="680000"/>
            <a:ext cx="2300000" cy="1828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0000" y="8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01 </a:t>
            </a:r>
            <a:r>
              <a:rPr sz="1400">
                <a:solidFill>
                  <a:srgbClr val="FFFFFF"/>
                </a:solidFill>
                <a:latin typeface="Georgia"/>
              </a:rPr>
              <a:t>Double Cleanse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0" y="11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02 </a:t>
            </a:r>
            <a:r>
              <a:rPr sz="1400">
                <a:solidFill>
                  <a:srgbClr val="FFFFFF"/>
                </a:solidFill>
                <a:latin typeface="Georgia"/>
              </a:rPr>
              <a:t>Exfoliant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0" y="14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03 </a:t>
            </a:r>
            <a:r>
              <a:rPr sz="1400">
                <a:solidFill>
                  <a:srgbClr val="FFFFFF"/>
                </a:solidFill>
                <a:latin typeface="Georgia"/>
              </a:rPr>
              <a:t>Toner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0" y="17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04 </a:t>
            </a:r>
            <a:r>
              <a:rPr sz="1400">
                <a:solidFill>
                  <a:srgbClr val="FFFFFF"/>
                </a:solidFill>
                <a:latin typeface="Georgia"/>
              </a:rPr>
              <a:t>Essence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0" y="20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05 </a:t>
            </a:r>
            <a:r>
              <a:rPr sz="1400">
                <a:solidFill>
                  <a:srgbClr val="FFFFFF"/>
                </a:solidFill>
                <a:latin typeface="Georgia"/>
              </a:rPr>
              <a:t>Ampoule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000" y="23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06 </a:t>
            </a:r>
            <a:r>
              <a:rPr sz="1400">
                <a:solidFill>
                  <a:srgbClr val="FFFFFF"/>
                </a:solidFill>
                <a:latin typeface="Georgia"/>
              </a:rPr>
              <a:t>Sheet 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0" y="26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07 </a:t>
            </a:r>
            <a:r>
              <a:rPr sz="1400">
                <a:solidFill>
                  <a:srgbClr val="FFFFFF"/>
                </a:solidFill>
                <a:latin typeface="Georgia"/>
              </a:rPr>
              <a:t>Eye Cream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0000" y="2950000"/>
            <a:ext cx="2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1400" b="1">
                <a:solidFill>
                  <a:srgbClr val="E91E63"/>
                </a:solidFill>
                <a:latin typeface="Calibri"/>
              </a:rPr>
              <a:t>08 </a:t>
            </a:r>
            <a:r>
              <a:rPr sz="1400">
                <a:solidFill>
                  <a:srgbClr val="FFFFFF"/>
                </a:solidFill>
                <a:latin typeface="Georgia"/>
              </a:rPr>
              <a:t>Night Cream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64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1">
                <a:solidFill>
                  <a:srgbClr val="757575"/>
                </a:solidFill>
                <a:latin typeface="Georgia"/>
              </a:rPr>
              <a:t>The K-Beauty ritual is as much philosophy as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00000"/>
            <a:ext cx="4500000" cy="1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0A0A0A"/>
                </a:solidFill>
                <a:latin typeface="Georgia"/>
              </a:rPr>
              <a:t>Hero
Ingredients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650000"/>
            <a:ext cx="2000000" cy="36576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1900000"/>
            <a:ext cx="45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1">
                <a:solidFill>
                  <a:srgbClr val="E91E63"/>
                </a:solidFill>
                <a:latin typeface="Georgia"/>
              </a:rPr>
              <a:t>$13.2B market in 2025
projected $21.8B by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500000" y="0"/>
            <a:ext cx="6692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00000" y="500000"/>
            <a:ext cx="5800000" cy="18288"/>
          </a:xfrm>
          <a:prstGeom prst="rect">
            <a:avLst/>
          </a:prstGeom>
          <a:solidFill>
            <a:srgbClr val="303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00000" y="550000"/>
            <a:ext cx="5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2000" b="1">
                <a:solidFill>
                  <a:srgbClr val="FFD600"/>
                </a:solidFill>
                <a:latin typeface="Calibri"/>
              </a:rPr>
              <a:t>01  </a:t>
            </a:r>
            <a:r>
              <a:rPr sz="2000" b="1">
                <a:solidFill>
                  <a:srgbClr val="FFFFFF"/>
                </a:solidFill>
                <a:latin typeface="Georgia"/>
              </a:rPr>
              <a:t>Snail Mucin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90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CCCDD"/>
                </a:solidFill>
                <a:latin typeface="Georgia"/>
              </a:rPr>
              <a:t>Hydration + repair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00000" y="1600000"/>
            <a:ext cx="5800000" cy="18288"/>
          </a:xfrm>
          <a:prstGeom prst="rect">
            <a:avLst/>
          </a:prstGeom>
          <a:solidFill>
            <a:srgbClr val="303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0000" y="1650000"/>
            <a:ext cx="5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2000" b="1">
                <a:solidFill>
                  <a:srgbClr val="FFD600"/>
                </a:solidFill>
                <a:latin typeface="Calibri"/>
              </a:rPr>
              <a:t>02  </a:t>
            </a:r>
            <a:r>
              <a:rPr sz="2000" b="1">
                <a:solidFill>
                  <a:srgbClr val="FFFFFF"/>
                </a:solidFill>
                <a:latin typeface="Georgia"/>
              </a:rPr>
              <a:t>Niacinamide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200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CCCDD"/>
                </a:solidFill>
                <a:latin typeface="Georgia"/>
              </a:rPr>
              <a:t>Brightening + pore 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0000" y="2700000"/>
            <a:ext cx="5800000" cy="18288"/>
          </a:xfrm>
          <a:prstGeom prst="rect">
            <a:avLst/>
          </a:prstGeom>
          <a:solidFill>
            <a:srgbClr val="303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0000" y="2750000"/>
            <a:ext cx="5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2000" b="1">
                <a:solidFill>
                  <a:srgbClr val="FFD600"/>
                </a:solidFill>
                <a:latin typeface="Calibri"/>
              </a:rPr>
              <a:t>03  </a:t>
            </a:r>
            <a:r>
              <a:rPr sz="2000" b="1">
                <a:solidFill>
                  <a:srgbClr val="FFFFFF"/>
                </a:solidFill>
                <a:latin typeface="Georgia"/>
              </a:rPr>
              <a:t>Centella Asiatica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10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CCCDD"/>
                </a:solidFill>
                <a:latin typeface="Georgia"/>
              </a:rPr>
              <a:t>Calming + anti-inflammatory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0000" y="3800000"/>
            <a:ext cx="5800000" cy="18288"/>
          </a:xfrm>
          <a:prstGeom prst="rect">
            <a:avLst/>
          </a:prstGeom>
          <a:solidFill>
            <a:srgbClr val="303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0000" y="3850000"/>
            <a:ext cx="5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2000" b="1">
                <a:solidFill>
                  <a:srgbClr val="FFD600"/>
                </a:solidFill>
                <a:latin typeface="Calibri"/>
              </a:rPr>
              <a:t>04  </a:t>
            </a:r>
            <a:r>
              <a:rPr sz="2000" b="1">
                <a:solidFill>
                  <a:srgbClr val="FFFFFF"/>
                </a:solidFill>
                <a:latin typeface="Georgia"/>
              </a:rPr>
              <a:t>Rice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000" y="420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CCCDD"/>
                </a:solidFill>
                <a:latin typeface="Georgia"/>
              </a:rPr>
              <a:t>Even skin tone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0000" y="4900000"/>
            <a:ext cx="5800000" cy="18288"/>
          </a:xfrm>
          <a:prstGeom prst="rect">
            <a:avLst/>
          </a:prstGeom>
          <a:solidFill>
            <a:srgbClr val="303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0000" y="4950000"/>
            <a:ext cx="5800000" cy="2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Georgia"/>
              </a:rPr>
              <a:t/>
            </a:r>
            <a:r>
              <a:rPr sz="2000" b="1">
                <a:solidFill>
                  <a:srgbClr val="FFD600"/>
                </a:solidFill>
                <a:latin typeface="Calibri"/>
              </a:rPr>
              <a:t>05  </a:t>
            </a:r>
            <a:r>
              <a:rPr sz="2000" b="1">
                <a:solidFill>
                  <a:srgbClr val="FFFFFF"/>
                </a:solidFill>
                <a:latin typeface="Georgia"/>
              </a:rPr>
              <a:t>Propolis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5300000"/>
            <a:ext cx="51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CCCCDD"/>
                </a:solidFill>
                <a:latin typeface="Georgia"/>
              </a:rPr>
              <a:t>Antibacterial + glow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6400000"/>
            <a:ext cx="45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Calibri"/>
              </a:rPr>
              <a:t>Source: Statista, Grand View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200000"/>
            <a:ext cx="11050000" cy="571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350000"/>
            <a:ext cx="1105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 i="0">
                <a:solidFill>
                  <a:srgbClr val="0A0A0A"/>
                </a:solidFill>
                <a:latin typeface="Georgia"/>
              </a:rPr>
              <a:t>Global Impact
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50000"/>
            <a:ext cx="11050000" cy="365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450000"/>
            <a:ext cx="250000" cy="800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480000"/>
            <a:ext cx="3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A0A0A"/>
                </a:solidFill>
                <a:latin typeface="Georgia"/>
              </a:rPr>
              <a:t>$13.2B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000" y="15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A0A0A"/>
                </a:solidFill>
                <a:latin typeface="Georgia"/>
              </a:rP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0000" y="187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Georgia"/>
              </a:rPr>
              <a:t>2,800+ brands in South Korea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280000"/>
            <a:ext cx="110500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350000"/>
            <a:ext cx="250000" cy="800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2380000"/>
            <a:ext cx="3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A0A0A"/>
                </a:solidFill>
                <a:latin typeface="Georgia"/>
              </a:rPr>
              <a:t>400%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0000" y="24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A0A0A"/>
                </a:solidFill>
                <a:latin typeface="Georgia"/>
              </a:rPr>
              <a:t>Import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0000" y="277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Georgia"/>
              </a:rPr>
              <a:t>US K-Beauty imports since 2015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3180000"/>
            <a:ext cx="110500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250000"/>
            <a:ext cx="250000" cy="800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280000"/>
            <a:ext cx="3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A0A0A"/>
                </a:solidFill>
                <a:latin typeface="Georgia"/>
              </a:rPr>
              <a:t>48B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0000" y="33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A0A0A"/>
                </a:solidFill>
                <a:latin typeface="Georgia"/>
              </a:rPr>
              <a:t>TikTok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0000" y="367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Georgia"/>
              </a:rPr>
              <a:t>#KBeauty global reach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080000"/>
            <a:ext cx="110500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4150000"/>
            <a:ext cx="250000" cy="800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0000" y="4180000"/>
            <a:ext cx="3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A0A0A"/>
                </a:solidFill>
                <a:latin typeface="Georgia"/>
              </a:rPr>
              <a:t>$230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0000" y="42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A0A0A"/>
                </a:solidFill>
                <a:latin typeface="Georgia"/>
              </a:rPr>
              <a:t>Annual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0000" y="457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Georgia"/>
              </a:rPr>
              <a:t>Korea per capita vs $110 in 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4980000"/>
            <a:ext cx="110500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" y="5050000"/>
            <a:ext cx="250000" cy="8000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0000" y="5080000"/>
            <a:ext cx="3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 i="0">
                <a:solidFill>
                  <a:srgbClr val="0A0A0A"/>
                </a:solidFill>
                <a:latin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0000" y="51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0A0A0A"/>
                </a:solidFill>
                <a:latin typeface="Georgia"/>
              </a:rPr>
              <a:t>Top Markets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0000" y="547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Georgia"/>
              </a:rPr>
              <a:t>China, US, Japan, Southeast Asia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" y="5880000"/>
            <a:ext cx="11050000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" y="64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Calibri"/>
              </a:rPr>
              <a:t>Source: Statista, Korea Customs Service, TikTok Analytics,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400000"/>
            <a:ext cx="11050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1500000"/>
            <a:ext cx="11050000" cy="1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Your Skin,
Your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800000"/>
            <a:ext cx="400000" cy="400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0000" y="3850000"/>
            <a:ext cx="104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FFFFFF"/>
                </a:solidFill>
                <a:latin typeface="Georgia"/>
              </a:rPr>
              <a:t>The future of beauty is personal, science-driven, and inclusive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6200000"/>
            <a:ext cx="11050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350000"/>
            <a:ext cx="5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57575"/>
                </a:solidFill>
                <a:latin typeface="Calibri"/>
              </a:rPr>
              <a:t>K-Beauty Market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6350000"/>
            <a:ext cx="46215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0" i="0">
                <a:solidFill>
                  <a:srgbClr val="757575"/>
                </a:solidFill>
                <a:latin typeface="Calibri"/>
              </a:rP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