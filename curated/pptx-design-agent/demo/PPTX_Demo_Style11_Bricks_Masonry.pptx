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457200"/>
            <a:ext cx="7132320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800" b="1">
                <a:solidFill>
                  <a:srgbClr val="1A1A1A"/>
                </a:solidFill>
                <a:latin typeface="Calibri"/>
              </a:defRPr>
            </a:pPr>
            <a:r>
              <a:t>The K-Beauty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6400800" cy="10972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800" b="1">
                <a:solidFill>
                  <a:srgbClr val="E60023"/>
                </a:solidFill>
                <a:latin typeface="Calibri"/>
              </a:defRPr>
            </a:pPr>
            <a:r>
              <a:t>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36233"/>
            <a:ext cx="5943600" cy="914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2200" b="0">
                <a:solidFill>
                  <a:srgbClr val="757575"/>
                </a:solidFill>
                <a:latin typeface="Calibri"/>
              </a:defRPr>
            </a:pPr>
            <a:r>
              <a:rPr dirty="0"/>
              <a:t>How Korea Redefined Skincare for the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2286000" cy="54864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60" y="457200"/>
            <a:ext cx="4114800" cy="2560320"/>
          </a:xfrm>
          <a:prstGeom prst="roundRect">
            <a:avLst>
              <a:gd name="adj" fmla="val 5000"/>
            </a:avLst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0" y="731520"/>
            <a:ext cx="3566160" cy="914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$13.2B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1645920"/>
            <a:ext cx="356616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800" b="0">
                <a:solidFill>
                  <a:srgbClr val="FFCCCC"/>
                </a:solidFill>
                <a:latin typeface="Calibri"/>
              </a:defRPr>
            </a:pPr>
            <a:r>
              <a:t>Global K-Beauty</a:t>
            </a:r>
            <a:br/>
            <a:r>
              <a:t>Market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154680"/>
            <a:ext cx="4114800" cy="155448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0" y="3337560"/>
            <a:ext cx="356616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E60023"/>
                </a:solidFill>
                <a:latin typeface="Calibri"/>
              </a:defRPr>
            </a:pPr>
            <a:r>
              <a:t>10-STEP ROUTINE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794760"/>
            <a:ext cx="3566160" cy="6400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1A1A1A"/>
                </a:solidFill>
                <a:latin typeface="Calibri"/>
              </a:defRPr>
            </a:pPr>
            <a:r>
              <a:t>A philosophy of layered care that transformed global skincare habits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846320"/>
            <a:ext cx="4114800" cy="15544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0" y="5074920"/>
            <a:ext cx="356616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5669280"/>
            <a:ext cx="356616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of Korean women follow multi-step routines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The 10-Step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Morning protection meets evening restoration — layered care philosophy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1179576" cy="292608"/>
          </a:xfrm>
          <a:prstGeom prst="roundRect">
            <a:avLst>
              <a:gd name="adj" fmla="val 50000"/>
            </a:avLst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92% Korea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35% Global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577840" cy="457200"/>
          </a:xfrm>
          <a:prstGeom prst="roundRect">
            <a:avLst>
              <a:gd name="adj" fmla="val 5000"/>
            </a:avLst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MORNING  ☀  Protection &amp; Prep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01168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1. Oil Cleanser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26771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Dissolve sunscreen &amp; makeup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96596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0128" y="201168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2. Water Cleanser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26771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Deep clean pores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69748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74320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3. Exfoliant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99923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2-3x weekly cell turnover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69748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8" y="274320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4. Toner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99923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Balance &amp; prep skin 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42900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5. Essence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73075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Core hydration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42900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10128" y="347472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6. Serum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373075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Targeted treatment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16052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20624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7. Moisturizer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46227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Seal in all layers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416052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10128" y="420624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8. Sunscreen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446227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SPF 50+ daily protection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371600"/>
            <a:ext cx="557784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NIGHT  🌙  Repair &amp; Restore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96596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7648" y="201168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1. Oil Cleanser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226771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Double cleanse start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196596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62288" y="201168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2. Water Cleanser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226771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Remove residual impurities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69748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27648" y="274320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3. Exfoliant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299923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Chemical/physical turnover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560" y="269748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62288" y="274320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4. Toner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2288" y="299923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Rebalance after cleansing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42900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27648" y="347472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5. Essence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373075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Fermented nutrient boost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342900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62288" y="347472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6. Serum/Ampoule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373075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Concentrated repair actives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416052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27648" y="420624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7. Sheet Mask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446227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15-min deep infusion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52560" y="4160520"/>
            <a:ext cx="269748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62288" y="4206240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8. Night Cream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62288" y="4462272"/>
            <a:ext cx="2478024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Rich overnight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Hero Ingredients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Science-backed actives powering the K-Beauty revolution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2004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8288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$13.2B → $21.8B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874520" cy="228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E60023"/>
                </a:solidFill>
                <a:latin typeface="Calibri"/>
              </a:defRPr>
            </a:pPr>
            <a:r>
              <a:t>SNAIL MUCIN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1874520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Glycoproteins &amp; hyaluronic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1874520" cy="11887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Repair micro-tears, deep hydration, fade scars. Gold standard for damaged skin recovery.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73736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847088"/>
            <a:ext cx="1874520" cy="228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FF6666"/>
                </a:solidFill>
                <a:latin typeface="Calibri"/>
              </a:defRPr>
            </a:pPr>
            <a:r>
              <a:t>NIACINAMIDE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84832"/>
            <a:ext cx="1874520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Vitamin B3 derivative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395728"/>
            <a:ext cx="1874520" cy="1463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Brightens dark spots, minimizes pores, strengthens skin barrier. Most versatile active.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371600"/>
            <a:ext cx="2148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1481328"/>
            <a:ext cx="1874520" cy="228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E60023"/>
                </a:solidFill>
                <a:latin typeface="Calibri"/>
              </a:defRPr>
            </a:pPr>
            <a:r>
              <a:t>CENTELLA ASIATICA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719072"/>
            <a:ext cx="1874520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Tiger grass 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029968"/>
            <a:ext cx="1874520" cy="10058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Anti-inflammatory, accelerates wound healing, calms redness. Sacred in traditional medicine.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920240"/>
            <a:ext cx="2148840" cy="2560320"/>
          </a:xfrm>
          <a:prstGeom prst="roundRect">
            <a:avLst>
              <a:gd name="adj" fmla="val 5000"/>
            </a:avLst>
          </a:prstGeom>
          <a:solidFill>
            <a:srgbClr val="F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20" y="2029968"/>
            <a:ext cx="1874520" cy="228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E60023"/>
                </a:solidFill>
                <a:latin typeface="Calibri"/>
              </a:defRPr>
            </a:pPr>
            <a:r>
              <a:t>RICE 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267712"/>
            <a:ext cx="1874520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Fermented rice 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578608"/>
            <a:ext cx="1874520" cy="17373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Contains kojic acid for brightening. Used for centuries by Korean women for luminous skin.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55448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6920" y="1664208"/>
            <a:ext cx="1874520" cy="228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1">
                <a:solidFill>
                  <a:srgbClr val="E60023"/>
                </a:solidFill>
                <a:latin typeface="Calibri"/>
              </a:defRPr>
            </a:pPr>
            <a:r>
              <a:t>PROPOLIS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1901952"/>
            <a:ext cx="1874520" cy="2743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Bee resin 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212848"/>
            <a:ext cx="1874520" cy="11887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Antibacterial, antioxidant powerhouse. Seals in moisture, protects against environmental damage.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38912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475488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Market Growth Trajectory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4754880" cy="8229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$13.2 billion (2023) projected to reach $21.8 billion by 2030.</a:t>
            </a:r>
            <a:br/>
            <a:r>
              <a:t>65% growth driven by global adoption of Korean skincare science.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4389120"/>
            <a:ext cx="5806440" cy="201168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466344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Why These Ingredients 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166360"/>
            <a:ext cx="5120640" cy="8229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757575"/>
                </a:solidFill>
                <a:latin typeface="Calibri"/>
              </a:defRPr>
            </a:pPr>
            <a:r>
              <a:t>Korean labs invest in fermentation biotech, snail farming, and centella cultivation — creating a vertically integrated ingredient supply chain unmatched globally.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Global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K-Beauty's worldwide footprint in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576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320040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200" b="1">
                <a:solidFill>
                  <a:srgbClr val="E60023"/>
                </a:solidFill>
                <a:latin typeface="Calibri"/>
              </a:defRPr>
            </a:pPr>
            <a:r>
              <a:t>$13.2B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MARKET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3200400" cy="10972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757575"/>
                </a:solidFill>
                <a:latin typeface="Calibri"/>
              </a:defRPr>
            </a:pPr>
            <a:r>
              <a:t>Global K-Beauty market value, growing at 9.3% CAGR annually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7160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320040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400%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>
                <a:solidFill>
                  <a:srgbClr val="FFCCCC"/>
                </a:solidFill>
                <a:latin typeface="Calibri"/>
              </a:defRPr>
            </a:pPr>
            <a:r>
              <a:t>IMPORT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26080"/>
            <a:ext cx="3200400" cy="10972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FFCCCC"/>
                </a:solidFill>
                <a:latin typeface="Calibri"/>
              </a:defRPr>
            </a:pPr>
            <a:r>
              <a:t>US imports of Korean skincare surged 400% in the past decade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45920"/>
            <a:ext cx="384048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1920240"/>
            <a:ext cx="338328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200" b="1">
                <a:solidFill>
                  <a:srgbClr val="E60023"/>
                </a:solidFill>
                <a:latin typeface="Calibri"/>
              </a:defRPr>
            </a:pPr>
            <a:r>
              <a:t>48B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74320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TIKTOK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200400"/>
            <a:ext cx="3383280" cy="10972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500" b="0">
                <a:solidFill>
                  <a:srgbClr val="757575"/>
                </a:solidFill>
                <a:latin typeface="Calibri"/>
              </a:defRPr>
            </a:pPr>
            <a:r>
              <a:t>#KBeauty hashtag views, driving Gen Z adoption worldwide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84632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983480"/>
            <a:ext cx="182880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600" b="1">
                <a:solidFill>
                  <a:srgbClr val="E60023"/>
                </a:solidFill>
                <a:latin typeface="Calibri"/>
              </a:defRPr>
            </a:pPr>
            <a:r>
              <a:t>$230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98348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ANNUAL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349240"/>
            <a:ext cx="3063240" cy="914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Average Korean woman's yearly skincare investment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84632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4983480"/>
            <a:ext cx="1828800" cy="5486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3600" b="1">
                <a:solidFill>
                  <a:srgbClr val="E60023"/>
                </a:solidFill>
                <a:latin typeface="Calibri"/>
              </a:defRPr>
            </a:pPr>
            <a:r>
              <a:t>4 Markets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98348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TOP DESTINATIONS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349240"/>
            <a:ext cx="3063240" cy="914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US, China, Japan, and Southeast Asia lead K-Beauty demand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457200"/>
            <a:ext cx="7772400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7772400" cy="73152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6675120" cy="1371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4800" b="1">
                <a:solidFill>
                  <a:srgbClr val="1A1A1A"/>
                </a:solidFill>
                <a:latin typeface="Calibri"/>
              </a:defRPr>
            </a:pPr>
            <a:r>
              <a:t>Your Skin,</a:t>
            </a:r>
            <a:br/>
            <a:r>
              <a:t>Your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2743200" cy="54864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6675120" cy="10972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2200" b="0">
                <a:solidFill>
                  <a:srgbClr val="757575"/>
                </a:solidFill>
                <a:latin typeface="Calibri"/>
              </a:defRPr>
            </a:pPr>
            <a:r>
              <a:t>The future of beauty is personal,</a:t>
            </a:r>
            <a:br/>
            <a:r>
              <a:t>science-driven, and inclusive.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5720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1080" y="640080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097280"/>
            <a:ext cx="2926080" cy="9144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Korean labs lead the world in skincare R&amp;D, fermentation biotech, and ingredient science.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4231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1080" y="2606040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>
                <a:solidFill>
                  <a:srgbClr val="E60023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063240"/>
            <a:ext cx="2926080" cy="73152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48 billion TikTok views. A global movement of shared routines and honest reviews.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20624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4389120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846320"/>
            <a:ext cx="2926080" cy="10972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From luxury to drugstore, K-Beauty democratized quality skincare for every budget and skin 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495</Words>
  <Application>Microsoft Macintosh PowerPoint</Application>
  <PresentationFormat>Widescreen</PresentationFormat>
  <Paragraphs>94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wz yao</cp:lastModifiedBy>
  <cp:revision>3</cp:revision>
  <dcterms:created xsi:type="dcterms:W3CDTF">2013-01-27T09:14:16Z</dcterms:created>
  <dcterms:modified xsi:type="dcterms:W3CDTF">2026-03-13T17:25:35Z</dcterms:modified>
  <cp:category/>
</cp:coreProperties>
</file>